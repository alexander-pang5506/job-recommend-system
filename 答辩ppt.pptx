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62" r:id="rId7"/>
    <p:sldId id="259" r:id="rId8"/>
    <p:sldId id="285" r:id="rId9"/>
    <p:sldId id="265" r:id="rId10"/>
    <p:sldId id="260" r:id="rId11"/>
    <p:sldId id="268" r:id="rId12"/>
    <p:sldId id="298" r:id="rId13"/>
    <p:sldId id="269" r:id="rId14"/>
    <p:sldId id="293" r:id="rId15"/>
    <p:sldId id="305" r:id="rId16"/>
    <p:sldId id="306" r:id="rId17"/>
    <p:sldId id="307" r:id="rId18"/>
    <p:sldId id="261" r:id="rId19"/>
    <p:sldId id="271" r:id="rId20"/>
    <p:sldId id="274" r:id="rId21"/>
  </p:sldIdLst>
  <p:sldSz cx="12192000" cy="6858000"/>
  <p:notesSz cx="6858000" cy="9144000"/>
  <p:custDataLst>
    <p:tags r:id="rId2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C4885"/>
    <a:srgbClr val="20B3A1"/>
    <a:srgbClr val="D642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91" autoAdjust="0"/>
    <p:restoredTop sz="96314" autoAdjust="0"/>
  </p:normalViewPr>
  <p:slideViewPr>
    <p:cSldViewPr snapToGrid="0" showGuides="1">
      <p:cViewPr varScale="1">
        <p:scale>
          <a:sx n="108" d="100"/>
          <a:sy n="108" d="100"/>
        </p:scale>
        <p:origin x="474" y="114"/>
      </p:cViewPr>
      <p:guideLst>
        <p:guide orient="horz" pos="1284"/>
        <p:guide pos="386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5" Type="http://schemas.openxmlformats.org/officeDocument/2006/relationships/tags" Target="tags/tag2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8B725A-BFDD-44D0-A8D3-61766B07B7F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BCC932-0C1F-4C94-8B9A-3944ABBB4E3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BCC932-0C1F-4C94-8B9A-3944ABBB4E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BCC932-0C1F-4C94-8B9A-3944ABBB4E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BCC932-0C1F-4C94-8B9A-3944ABBB4E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BCC932-0C1F-4C94-8B9A-3944ABBB4E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BCC932-0C1F-4C94-8B9A-3944ABBB4E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BCC932-0C1F-4C94-8B9A-3944ABBB4E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BCC932-0C1F-4C94-8B9A-3944ABBB4E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BCC932-0C1F-4C94-8B9A-3944ABBB4E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BCC932-0C1F-4C94-8B9A-3944ABBB4E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BCC932-0C1F-4C94-8B9A-3944ABBB4E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BCC932-0C1F-4C94-8B9A-3944ABBB4E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BCC932-0C1F-4C94-8B9A-3944ABBB4E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BCC932-0C1F-4C94-8B9A-3944ABBB4E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BCC932-0C1F-4C94-8B9A-3944ABBB4E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BCC932-0C1F-4C94-8B9A-3944ABBB4E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BCC932-0C1F-4C94-8B9A-3944ABBB4E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BCC932-0C1F-4C94-8B9A-3944ABBB4E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BCC932-0C1F-4C94-8B9A-3944ABBB4E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6F278-ABF0-48CA-ADF0-1D43CCA8A18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799FB-52B8-4698-BECF-01ADD9E846BE}" type="slidenum">
              <a:rPr lang="zh-CN" altLang="en-US" smtClean="0"/>
            </a:fld>
            <a:endParaRPr lang="zh-CN" altLang="en-US"/>
          </a:p>
        </p:txBody>
      </p:sp>
      <p:pic>
        <p:nvPicPr>
          <p:cNvPr id="8" name="图片 7" descr="河南工程学院校徽-透明 小.gif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68000" y="436245"/>
            <a:ext cx="972820" cy="962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3000"/>
    </mc:Choice>
    <mc:Fallback>
      <p:transition advTm="300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6F278-ABF0-48CA-ADF0-1D43CCA8A18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799FB-52B8-4698-BECF-01ADD9E846B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3000"/>
    </mc:Choice>
    <mc:Fallback>
      <p:transition advTm="300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6F278-ABF0-48CA-ADF0-1D43CCA8A18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799FB-52B8-4698-BECF-01ADD9E846B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3000"/>
    </mc:Choice>
    <mc:Fallback>
      <p:transition advTm="3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6F278-ABF0-48CA-ADF0-1D43CCA8A18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799FB-52B8-4698-BECF-01ADD9E846B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3000"/>
    </mc:Choice>
    <mc:Fallback>
      <p:transition advTm="300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6F278-ABF0-48CA-ADF0-1D43CCA8A181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799FB-52B8-4698-BECF-01ADD9E846B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3000"/>
    </mc:Choice>
    <mc:Fallback>
      <p:transition advTm="300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6F278-ABF0-48CA-ADF0-1D43CCA8A18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799FB-52B8-4698-BECF-01ADD9E846B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3000"/>
    </mc:Choice>
    <mc:Fallback>
      <p:transition advTm="300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6F278-ABF0-48CA-ADF0-1D43CCA8A181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799FB-52B8-4698-BECF-01ADD9E846B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3000"/>
    </mc:Choice>
    <mc:Fallback>
      <p:transition advTm="300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6F278-ABF0-48CA-ADF0-1D43CCA8A18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799FB-52B8-4698-BECF-01ADD9E846B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3000"/>
    </mc:Choice>
    <mc:Fallback>
      <p:transition advTm="300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6F278-ABF0-48CA-ADF0-1D43CCA8A18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799FB-52B8-4698-BECF-01ADD9E846B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3000"/>
    </mc:Choice>
    <mc:Fallback>
      <p:transition advTm="300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6F278-ABF0-48CA-ADF0-1D43CCA8A18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799FB-52B8-4698-BECF-01ADD9E846B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3000"/>
    </mc:Choice>
    <mc:Fallback>
      <p:transition advTm="300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6F278-ABF0-48CA-ADF0-1D43CCA8A18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799FB-52B8-4698-BECF-01ADD9E846B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3000"/>
    </mc:Choice>
    <mc:Fallback>
      <p:transition advTm="300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F6F278-ABF0-48CA-ADF0-1D43CCA8A18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6799FB-52B8-4698-BECF-01ADD9E846B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p14:dur="0" advTm="3000"/>
    </mc:Choice>
    <mc:Fallback>
      <p:transition advTm="3000"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0" Type="http://schemas.openxmlformats.org/officeDocument/2006/relationships/notesSlide" Target="../notesSlides/notesSlide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tags" Target="../tags/tag16.xml"/><Relationship Id="rId7" Type="http://schemas.openxmlformats.org/officeDocument/2006/relationships/tags" Target="../tags/tag15.xml"/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4" Type="http://schemas.openxmlformats.org/officeDocument/2006/relationships/tags" Target="../tags/tag12.xml"/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0" Type="http://schemas.openxmlformats.org/officeDocument/2006/relationships/notesSlide" Target="../notesSlides/notesSlide4.xml"/><Relationship Id="rId1" Type="http://schemas.openxmlformats.org/officeDocument/2006/relationships/tags" Target="../tags/tag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7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20.xml"/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9984658" y="4866967"/>
            <a:ext cx="1961536" cy="1696064"/>
          </a:xfrm>
          <a:prstGeom prst="rect">
            <a:avLst/>
          </a:prstGeom>
          <a:solidFill>
            <a:srgbClr val="1C48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245805" y="294968"/>
            <a:ext cx="1961536" cy="1696064"/>
          </a:xfrm>
          <a:prstGeom prst="rect">
            <a:avLst/>
          </a:prstGeom>
          <a:solidFill>
            <a:srgbClr val="1C48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245805" y="4866967"/>
            <a:ext cx="1961536" cy="1696064"/>
          </a:xfrm>
          <a:prstGeom prst="rect">
            <a:avLst/>
          </a:prstGeom>
          <a:solidFill>
            <a:srgbClr val="1C48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9984658" y="294968"/>
            <a:ext cx="1961536" cy="1696064"/>
          </a:xfrm>
          <a:prstGeom prst="rect">
            <a:avLst/>
          </a:prstGeom>
          <a:solidFill>
            <a:srgbClr val="1C48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圆角矩形 7"/>
          <p:cNvSpPr/>
          <p:nvPr/>
        </p:nvSpPr>
        <p:spPr>
          <a:xfrm>
            <a:off x="403122" y="405580"/>
            <a:ext cx="11385755" cy="5958349"/>
          </a:xfrm>
          <a:prstGeom prst="roundRect">
            <a:avLst>
              <a:gd name="adj" fmla="val 1568"/>
            </a:avLst>
          </a:prstGeom>
          <a:solidFill>
            <a:schemeClr val="bg1"/>
          </a:solidFill>
          <a:ln>
            <a:noFill/>
          </a:ln>
          <a:effectLst>
            <a:glow rad="228600">
              <a:schemeClr val="tx1">
                <a:alpha val="3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1660525" y="1872615"/>
            <a:ext cx="8483600" cy="13512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4000" b="1" spc="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字魂35号-经典雅黑" panose="00000500000000000000" pitchFamily="2" charset="-122"/>
              </a:rPr>
              <a:t>基于</a:t>
            </a:r>
            <a:r>
              <a:rPr lang="en-US" altLang="zh-CN" sz="4000" b="1" spc="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字魂35号-经典雅黑" panose="00000500000000000000" pitchFamily="2" charset="-122"/>
              </a:rPr>
              <a:t>Python</a:t>
            </a:r>
            <a:r>
              <a:rPr lang="zh-CN" altLang="en-US" sz="4000" b="1" spc="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字魂35号-经典雅黑" panose="00000500000000000000" pitchFamily="2" charset="-122"/>
              </a:rPr>
              <a:t>的猎聘直聘数据分析与可视化推荐系统</a:t>
            </a:r>
            <a:endParaRPr lang="zh-CN" altLang="en-US" sz="4000" dirty="0">
              <a:solidFill>
                <a:srgbClr val="1C488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5995035" y="4595495"/>
            <a:ext cx="43053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答辩人</a:t>
            </a:r>
            <a:r>
              <a:rPr lang="zh-CN" alt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   学号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8" name="直接连接符 17"/>
          <p:cNvCxnSpPr/>
          <p:nvPr/>
        </p:nvCxnSpPr>
        <p:spPr>
          <a:xfrm>
            <a:off x="5402867" y="3855557"/>
            <a:ext cx="1388806" cy="0"/>
          </a:xfrm>
          <a:prstGeom prst="line">
            <a:avLst/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1986915" y="3295650"/>
            <a:ext cx="57569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学院：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班级：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988709" y="5737122"/>
            <a:ext cx="3957485" cy="825909"/>
          </a:xfrm>
          <a:prstGeom prst="rect">
            <a:avLst/>
          </a:prstGeom>
          <a:solidFill>
            <a:srgbClr val="1C48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245804" y="294968"/>
            <a:ext cx="3957485" cy="825909"/>
          </a:xfrm>
          <a:prstGeom prst="rect">
            <a:avLst/>
          </a:prstGeom>
          <a:solidFill>
            <a:srgbClr val="1C48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403122" y="449825"/>
            <a:ext cx="11385755" cy="5958349"/>
          </a:xfrm>
          <a:prstGeom prst="roundRect">
            <a:avLst>
              <a:gd name="adj" fmla="val 1568"/>
            </a:avLst>
          </a:prstGeom>
          <a:solidFill>
            <a:schemeClr val="bg1"/>
          </a:solidFill>
          <a:ln>
            <a:noFill/>
          </a:ln>
          <a:effectLst>
            <a:glow rad="228600">
              <a:schemeClr val="tx1">
                <a:alpha val="3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908175" y="1244600"/>
            <a:ext cx="2326005" cy="8629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dist"/>
            <a:r>
              <a:rPr lang="zh-CN" altLang="en-US" sz="4800" dirty="0">
                <a:solidFill>
                  <a:srgbClr val="1C4885"/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目录</a:t>
            </a:r>
            <a:endParaRPr lang="zh-CN" altLang="en-US" sz="4800" dirty="0">
              <a:solidFill>
                <a:srgbClr val="1C4885"/>
              </a:solidFill>
              <a:latin typeface="FZZhengHeiS-DB-GB" panose="02000000000000000000" pitchFamily="2" charset="0"/>
              <a:ea typeface="FZZhengHeiS-DB-GB" panose="02000000000000000000" pitchFamily="2" charset="0"/>
            </a:endParaRPr>
          </a:p>
        </p:txBody>
      </p:sp>
      <p:sp>
        <p:nvSpPr>
          <p:cNvPr id="9" name="椭圆 8"/>
          <p:cNvSpPr/>
          <p:nvPr>
            <p:custDataLst>
              <p:tags r:id="rId1"/>
            </p:custDataLst>
          </p:nvPr>
        </p:nvSpPr>
        <p:spPr>
          <a:xfrm>
            <a:off x="1908283" y="3112512"/>
            <a:ext cx="643774" cy="643774"/>
          </a:xfrm>
          <a:prstGeom prst="ellipse">
            <a:avLst/>
          </a:prstGeom>
          <a:solidFill>
            <a:srgbClr val="1C48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FuturaBookC" charset="-52"/>
              </a:rPr>
              <a:t>01</a:t>
            </a:r>
            <a:endParaRPr lang="zh-CN" altLang="en-US" sz="1200" b="1" dirty="0">
              <a:solidFill>
                <a:schemeClr val="bg1"/>
              </a:solidFill>
              <a:latin typeface="FuturaBookC" charset="-52"/>
            </a:endParaRPr>
          </a:p>
        </p:txBody>
      </p:sp>
      <p:sp>
        <p:nvSpPr>
          <p:cNvPr id="10" name="文本框 9"/>
          <p:cNvSpPr txBox="1"/>
          <p:nvPr>
            <p:custDataLst>
              <p:tags r:id="rId2"/>
            </p:custDataLst>
          </p:nvPr>
        </p:nvSpPr>
        <p:spPr>
          <a:xfrm>
            <a:off x="2682875" y="3197860"/>
            <a:ext cx="3702050" cy="4559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just"/>
            <a:r>
              <a:rPr lang="zh-CN" altLang="en-US" sz="2400" dirty="0">
                <a:latin typeface="FZZhengHeiS-DB-GB" panose="02000000000000000000" pitchFamily="2" charset="0"/>
                <a:ea typeface="FZZhengHeiS-DB-GB" panose="02000000000000000000" pitchFamily="2" charset="0"/>
              </a:rPr>
              <a:t>选题背景与意义</a:t>
            </a:r>
            <a:endParaRPr lang="zh-CN" altLang="en-US" sz="2400" dirty="0">
              <a:latin typeface="FZZhengHeiS-DB-GB" panose="02000000000000000000" pitchFamily="2" charset="0"/>
              <a:ea typeface="FZZhengHeiS-DB-GB" panose="02000000000000000000" pitchFamily="2" charset="0"/>
            </a:endParaRPr>
          </a:p>
        </p:txBody>
      </p:sp>
      <p:sp>
        <p:nvSpPr>
          <p:cNvPr id="12" name="椭圆 11"/>
          <p:cNvSpPr/>
          <p:nvPr>
            <p:custDataLst>
              <p:tags r:id="rId3"/>
            </p:custDataLst>
          </p:nvPr>
        </p:nvSpPr>
        <p:spPr>
          <a:xfrm>
            <a:off x="6495346" y="3112512"/>
            <a:ext cx="643774" cy="643774"/>
          </a:xfrm>
          <a:prstGeom prst="ellipse">
            <a:avLst/>
          </a:prstGeom>
          <a:solidFill>
            <a:srgbClr val="1C48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FuturaBookC" charset="-52"/>
              </a:rPr>
              <a:t>02</a:t>
            </a:r>
            <a:endParaRPr lang="zh-CN" altLang="en-US" sz="1200" b="1" dirty="0">
              <a:solidFill>
                <a:schemeClr val="bg1"/>
              </a:solidFill>
              <a:latin typeface="FuturaBookC" charset="-52"/>
            </a:endParaRPr>
          </a:p>
        </p:txBody>
      </p:sp>
      <p:sp>
        <p:nvSpPr>
          <p:cNvPr id="13" name="文本框 12"/>
          <p:cNvSpPr txBox="1"/>
          <p:nvPr>
            <p:custDataLst>
              <p:tags r:id="rId4"/>
            </p:custDataLst>
          </p:nvPr>
        </p:nvSpPr>
        <p:spPr>
          <a:xfrm>
            <a:off x="7259955" y="3197860"/>
            <a:ext cx="3702050" cy="4552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just"/>
            <a:r>
              <a:rPr lang="zh-CN" altLang="en-US" sz="2400" dirty="0">
                <a:latin typeface="FZZhengHeiS-DB-GB" panose="02000000000000000000" pitchFamily="2" charset="0"/>
                <a:ea typeface="FZZhengHeiS-DB-GB" panose="02000000000000000000" pitchFamily="2" charset="0"/>
              </a:rPr>
              <a:t>相关技术及功能</a:t>
            </a:r>
            <a:r>
              <a:rPr lang="zh-CN" altLang="en-US" sz="2400" dirty="0">
                <a:latin typeface="FZZhengHeiS-DB-GB" panose="02000000000000000000" pitchFamily="2" charset="0"/>
                <a:ea typeface="FZZhengHeiS-DB-GB" panose="02000000000000000000" pitchFamily="2" charset="0"/>
              </a:rPr>
              <a:t>设计</a:t>
            </a:r>
            <a:endParaRPr lang="zh-CN" altLang="en-US" sz="2400" dirty="0">
              <a:latin typeface="FZZhengHeiS-DB-GB" panose="02000000000000000000" pitchFamily="2" charset="0"/>
              <a:ea typeface="FZZhengHeiS-DB-GB" panose="02000000000000000000" pitchFamily="2" charset="0"/>
            </a:endParaRPr>
          </a:p>
        </p:txBody>
      </p:sp>
      <p:sp>
        <p:nvSpPr>
          <p:cNvPr id="15" name="椭圆 14"/>
          <p:cNvSpPr/>
          <p:nvPr>
            <p:custDataLst>
              <p:tags r:id="rId5"/>
            </p:custDataLst>
          </p:nvPr>
        </p:nvSpPr>
        <p:spPr>
          <a:xfrm>
            <a:off x="1908283" y="4355250"/>
            <a:ext cx="643774" cy="643774"/>
          </a:xfrm>
          <a:prstGeom prst="ellipse">
            <a:avLst/>
          </a:prstGeom>
          <a:solidFill>
            <a:srgbClr val="1C48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FuturaBookC" charset="-52"/>
              </a:rPr>
              <a:t>03</a:t>
            </a:r>
            <a:endParaRPr lang="zh-CN" altLang="en-US" sz="1200" b="1" dirty="0">
              <a:solidFill>
                <a:schemeClr val="bg1"/>
              </a:solidFill>
              <a:latin typeface="FuturaBookC" charset="-52"/>
            </a:endParaRPr>
          </a:p>
        </p:txBody>
      </p:sp>
      <p:sp>
        <p:nvSpPr>
          <p:cNvPr id="16" name="文本框 15"/>
          <p:cNvSpPr txBox="1"/>
          <p:nvPr>
            <p:custDataLst>
              <p:tags r:id="rId6"/>
            </p:custDataLst>
          </p:nvPr>
        </p:nvSpPr>
        <p:spPr>
          <a:xfrm>
            <a:off x="2672715" y="4461510"/>
            <a:ext cx="3702050" cy="5365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just"/>
            <a:r>
              <a:rPr lang="zh-CN" altLang="en-US" sz="2400" dirty="0">
                <a:latin typeface="FZZhengHeiS-DB-GB" panose="02000000000000000000" pitchFamily="2" charset="0"/>
                <a:ea typeface="FZZhengHeiS-DB-GB" panose="02000000000000000000" pitchFamily="2" charset="0"/>
              </a:rPr>
              <a:t>功能</a:t>
            </a:r>
            <a:r>
              <a:rPr lang="zh-CN" altLang="en-US" sz="2400" dirty="0">
                <a:latin typeface="FZZhengHeiS-DB-GB" panose="02000000000000000000" pitchFamily="2" charset="0"/>
                <a:ea typeface="FZZhengHeiS-DB-GB" panose="02000000000000000000" pitchFamily="2" charset="0"/>
              </a:rPr>
              <a:t>实现</a:t>
            </a:r>
            <a:endParaRPr lang="zh-CN" altLang="en-US" sz="2400" dirty="0">
              <a:latin typeface="FZZhengHeiS-DB-GB" panose="02000000000000000000" pitchFamily="2" charset="0"/>
              <a:ea typeface="FZZhengHeiS-DB-GB" panose="02000000000000000000" pitchFamily="2" charset="0"/>
            </a:endParaRPr>
          </a:p>
        </p:txBody>
      </p:sp>
      <p:sp>
        <p:nvSpPr>
          <p:cNvPr id="18" name="椭圆 17"/>
          <p:cNvSpPr/>
          <p:nvPr>
            <p:custDataLst>
              <p:tags r:id="rId7"/>
            </p:custDataLst>
          </p:nvPr>
        </p:nvSpPr>
        <p:spPr>
          <a:xfrm>
            <a:off x="6495346" y="4355250"/>
            <a:ext cx="643774" cy="643774"/>
          </a:xfrm>
          <a:prstGeom prst="ellipse">
            <a:avLst/>
          </a:prstGeom>
          <a:solidFill>
            <a:srgbClr val="1C48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FuturaBookC" charset="-52"/>
              </a:rPr>
              <a:t>04</a:t>
            </a:r>
            <a:endParaRPr lang="zh-CN" altLang="en-US" sz="1200" b="1" dirty="0">
              <a:solidFill>
                <a:schemeClr val="bg1"/>
              </a:solidFill>
              <a:latin typeface="FuturaBookC" charset="-52"/>
            </a:endParaRPr>
          </a:p>
        </p:txBody>
      </p:sp>
      <p:sp>
        <p:nvSpPr>
          <p:cNvPr id="20" name="文本框 19"/>
          <p:cNvSpPr txBox="1"/>
          <p:nvPr>
            <p:custDataLst>
              <p:tags r:id="rId8"/>
            </p:custDataLst>
          </p:nvPr>
        </p:nvSpPr>
        <p:spPr>
          <a:xfrm>
            <a:off x="7259955" y="4455160"/>
            <a:ext cx="3702050" cy="4457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just"/>
            <a:r>
              <a:rPr lang="zh-CN" altLang="en-US" sz="2400" dirty="0">
                <a:latin typeface="FZZhengHeiS-DB-GB" panose="02000000000000000000" pitchFamily="2" charset="0"/>
                <a:ea typeface="FZZhengHeiS-DB-GB" panose="02000000000000000000" pitchFamily="2" charset="0"/>
              </a:rPr>
              <a:t>总结</a:t>
            </a:r>
            <a:endParaRPr lang="zh-CN" altLang="en-US" sz="2400" dirty="0">
              <a:latin typeface="FZZhengHeiS-DB-GB" panose="02000000000000000000" pitchFamily="2" charset="0"/>
              <a:ea typeface="FZZhengHeiS-DB-GB" panose="02000000000000000000" pitchFamily="2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45805" y="294968"/>
            <a:ext cx="1961536" cy="1696064"/>
          </a:xfrm>
          <a:prstGeom prst="rect">
            <a:avLst/>
          </a:prstGeom>
          <a:solidFill>
            <a:srgbClr val="1C48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9984658" y="4866967"/>
            <a:ext cx="1961536" cy="1696064"/>
          </a:xfrm>
          <a:prstGeom prst="rect">
            <a:avLst/>
          </a:prstGeom>
          <a:solidFill>
            <a:srgbClr val="1C48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403122" y="449825"/>
            <a:ext cx="11385755" cy="5958349"/>
          </a:xfrm>
          <a:prstGeom prst="roundRect">
            <a:avLst>
              <a:gd name="adj" fmla="val 1568"/>
            </a:avLst>
          </a:prstGeom>
          <a:solidFill>
            <a:schemeClr val="bg1"/>
          </a:solidFill>
          <a:ln>
            <a:noFill/>
          </a:ln>
          <a:effectLst>
            <a:glow rad="228600">
              <a:srgbClr val="02615A">
                <a:alpha val="3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1887301" y="2420811"/>
            <a:ext cx="1592179" cy="1592179"/>
          </a:xfrm>
          <a:prstGeom prst="ellipse">
            <a:avLst/>
          </a:prstGeom>
          <a:solidFill>
            <a:srgbClr val="1C48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800" b="1" dirty="0">
                <a:solidFill>
                  <a:schemeClr val="bg1"/>
                </a:solidFill>
                <a:latin typeface="FuturaBookC" charset="-52"/>
              </a:rPr>
              <a:t>1</a:t>
            </a:r>
            <a:endParaRPr lang="zh-CN" altLang="en-US" sz="13800" b="1" dirty="0">
              <a:solidFill>
                <a:schemeClr val="bg1"/>
              </a:solidFill>
              <a:latin typeface="FuturaBookC" charset="-5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476750" y="2759710"/>
            <a:ext cx="5760085" cy="9842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dist"/>
            <a:r>
              <a:rPr lang="zh-CN" altLang="en-US" sz="4400" dirty="0">
                <a:solidFill>
                  <a:srgbClr val="1C4885"/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选题背景及意义</a:t>
            </a:r>
            <a:endParaRPr lang="zh-CN" altLang="en-US" sz="4400" dirty="0">
              <a:solidFill>
                <a:srgbClr val="1C4885"/>
              </a:solidFill>
              <a:latin typeface="FZZhengHeiS-DB-GB" panose="02000000000000000000" pitchFamily="2" charset="0"/>
              <a:ea typeface="FZZhengHeiS-DB-GB" panose="02000000000000000000" pitchFamily="2" charset="0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663554" y="4013199"/>
            <a:ext cx="1112406" cy="0"/>
          </a:xfrm>
          <a:prstGeom prst="line">
            <a:avLst/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904875" y="528955"/>
            <a:ext cx="2538730" cy="5600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</a:t>
            </a:r>
            <a:endParaRPr lang="zh-CN" altLang="en-US" sz="32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796413" y="457203"/>
            <a:ext cx="0" cy="632244"/>
          </a:xfrm>
          <a:prstGeom prst="line">
            <a:avLst/>
          </a:prstGeom>
          <a:ln w="76200">
            <a:solidFill>
              <a:srgbClr val="1C48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矩形 30"/>
          <p:cNvSpPr/>
          <p:nvPr>
            <p:custDataLst>
              <p:tags r:id="rId1"/>
            </p:custDataLst>
          </p:nvPr>
        </p:nvSpPr>
        <p:spPr>
          <a:xfrm>
            <a:off x="912495" y="1594485"/>
            <a:ext cx="4843145" cy="40830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5" name="组合 4"/>
          <p:cNvGrpSpPr/>
          <p:nvPr>
            <p:custDataLst>
              <p:tags r:id="rId2"/>
            </p:custDataLst>
          </p:nvPr>
        </p:nvGrpSpPr>
        <p:grpSpPr>
          <a:xfrm>
            <a:off x="811530" y="1487170"/>
            <a:ext cx="1145540" cy="1025525"/>
            <a:chOff x="6177683" y="1666134"/>
            <a:chExt cx="1362525" cy="988578"/>
          </a:xfrm>
          <a:solidFill>
            <a:srgbClr val="1C4885"/>
          </a:solidFill>
        </p:grpSpPr>
        <p:sp>
          <p:nvSpPr>
            <p:cNvPr id="7" name="矩形 6"/>
            <p:cNvSpPr/>
            <p:nvPr>
              <p:custDataLst>
                <p:tags r:id="rId3"/>
              </p:custDataLst>
            </p:nvPr>
          </p:nvSpPr>
          <p:spPr>
            <a:xfrm rot="5400000">
              <a:off x="5743333" y="2100484"/>
              <a:ext cx="988578" cy="11987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>
              <p:custDataLst>
                <p:tags r:id="rId4"/>
              </p:custDataLst>
            </p:nvPr>
          </p:nvSpPr>
          <p:spPr>
            <a:xfrm>
              <a:off x="6297561" y="1666134"/>
              <a:ext cx="1242647" cy="10367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026160" y="2512060"/>
            <a:ext cx="4601210" cy="22148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       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传统招聘逐渐被线上平台招聘所取代。但线上招聘平台数据量过大，求职者难以从这些数据中快速地获取有用信息。因此构建一个猎聘直聘数据分析与可视化系统尤为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重要。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6543798" y="528958"/>
            <a:ext cx="0" cy="632244"/>
          </a:xfrm>
          <a:prstGeom prst="line">
            <a:avLst/>
          </a:prstGeom>
          <a:ln w="76200">
            <a:solidFill>
              <a:srgbClr val="1C48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6694805" y="611505"/>
            <a:ext cx="3152775" cy="4775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rPr>
              <a:t>研究意义</a:t>
            </a:r>
            <a:endParaRPr lang="zh-CN" altLang="en-US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1" name="组合 10"/>
          <p:cNvGrpSpPr/>
          <p:nvPr>
            <p:custDataLst>
              <p:tags r:id="rId5"/>
            </p:custDataLst>
          </p:nvPr>
        </p:nvGrpSpPr>
        <p:grpSpPr>
          <a:xfrm>
            <a:off x="6593205" y="1487170"/>
            <a:ext cx="1145540" cy="1025525"/>
            <a:chOff x="6177683" y="1666134"/>
            <a:chExt cx="1362525" cy="988578"/>
          </a:xfrm>
          <a:solidFill>
            <a:srgbClr val="1C4885"/>
          </a:solidFill>
        </p:grpSpPr>
        <p:sp>
          <p:nvSpPr>
            <p:cNvPr id="12" name="矩形 11"/>
            <p:cNvSpPr/>
            <p:nvPr>
              <p:custDataLst>
                <p:tags r:id="rId6"/>
              </p:custDataLst>
            </p:nvPr>
          </p:nvSpPr>
          <p:spPr>
            <a:xfrm rot="5400000">
              <a:off x="5743333" y="2100484"/>
              <a:ext cx="988578" cy="11987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3" name="矩形 12"/>
            <p:cNvSpPr/>
            <p:nvPr>
              <p:custDataLst>
                <p:tags r:id="rId7"/>
              </p:custDataLst>
            </p:nvPr>
          </p:nvSpPr>
          <p:spPr>
            <a:xfrm>
              <a:off x="6297561" y="1666134"/>
              <a:ext cx="1242647" cy="10367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4" name="矩形 13"/>
          <p:cNvSpPr/>
          <p:nvPr>
            <p:custDataLst>
              <p:tags r:id="rId8"/>
            </p:custDataLst>
          </p:nvPr>
        </p:nvSpPr>
        <p:spPr>
          <a:xfrm>
            <a:off x="6694805" y="1594485"/>
            <a:ext cx="4843145" cy="40830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6873240" y="2512060"/>
            <a:ext cx="4598035" cy="30645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>
                <a:sym typeface="+mn-ea"/>
              </a:rPr>
              <a:t>     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通过深入分析Java、Python和C语言等主流编程语言的招聘信息，学生能够洞察技术岗位的需求变化，把握薪资走势，从而做出更明智的职业选择。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45805" y="294968"/>
            <a:ext cx="1961536" cy="1696064"/>
          </a:xfrm>
          <a:prstGeom prst="rect">
            <a:avLst/>
          </a:prstGeom>
          <a:solidFill>
            <a:srgbClr val="1C48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9984658" y="4866967"/>
            <a:ext cx="1961536" cy="1696064"/>
          </a:xfrm>
          <a:prstGeom prst="rect">
            <a:avLst/>
          </a:prstGeom>
          <a:solidFill>
            <a:srgbClr val="1C48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403122" y="449825"/>
            <a:ext cx="11385755" cy="5958349"/>
          </a:xfrm>
          <a:prstGeom prst="roundRect">
            <a:avLst>
              <a:gd name="adj" fmla="val 1568"/>
            </a:avLst>
          </a:prstGeom>
          <a:solidFill>
            <a:schemeClr val="bg1"/>
          </a:solidFill>
          <a:ln>
            <a:noFill/>
          </a:ln>
          <a:effectLst>
            <a:glow rad="228600">
              <a:srgbClr val="02615A">
                <a:alpha val="3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1887301" y="2420811"/>
            <a:ext cx="1592179" cy="1592179"/>
          </a:xfrm>
          <a:prstGeom prst="ellipse">
            <a:avLst/>
          </a:prstGeom>
          <a:solidFill>
            <a:srgbClr val="1C48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800" b="1" dirty="0">
                <a:solidFill>
                  <a:schemeClr val="bg1"/>
                </a:solidFill>
                <a:latin typeface="FuturaBookC" charset="-52"/>
              </a:rPr>
              <a:t>2</a:t>
            </a:r>
            <a:endParaRPr lang="zh-CN" altLang="en-US" sz="13800" b="1" dirty="0">
              <a:solidFill>
                <a:schemeClr val="bg1"/>
              </a:solidFill>
              <a:latin typeface="FuturaBookC" charset="-5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476750" y="2718435"/>
            <a:ext cx="5760085" cy="9328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dist"/>
            <a:r>
              <a:rPr lang="zh-CN" altLang="en-US" sz="4400" dirty="0">
                <a:solidFill>
                  <a:srgbClr val="1C4885"/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相关技术和功能</a:t>
            </a:r>
            <a:r>
              <a:rPr lang="zh-CN" altLang="en-US" sz="4400" dirty="0">
                <a:solidFill>
                  <a:srgbClr val="1C4885"/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设计</a:t>
            </a:r>
            <a:endParaRPr lang="zh-CN" altLang="en-US" sz="4400" dirty="0">
              <a:solidFill>
                <a:srgbClr val="1C4885"/>
              </a:solidFill>
              <a:latin typeface="FZZhengHeiS-DB-GB" panose="02000000000000000000" pitchFamily="2" charset="0"/>
              <a:ea typeface="FZZhengHeiS-DB-GB" panose="02000000000000000000" pitchFamily="2" charset="0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601324" y="4013199"/>
            <a:ext cx="1112406" cy="0"/>
          </a:xfrm>
          <a:prstGeom prst="line">
            <a:avLst/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5" name="组合 184"/>
          <p:cNvGrpSpPr/>
          <p:nvPr/>
        </p:nvGrpSpPr>
        <p:grpSpPr>
          <a:xfrm>
            <a:off x="9079082" y="3718997"/>
            <a:ext cx="2713036" cy="2679368"/>
            <a:chOff x="6740737" y="2917865"/>
            <a:chExt cx="2163364" cy="2136517"/>
          </a:xfrm>
        </p:grpSpPr>
        <p:sp>
          <p:nvSpPr>
            <p:cNvPr id="186" name="Freeform 9"/>
            <p:cNvSpPr/>
            <p:nvPr/>
          </p:nvSpPr>
          <p:spPr bwMode="auto">
            <a:xfrm>
              <a:off x="6740737" y="2917865"/>
              <a:ext cx="2163364" cy="2136517"/>
            </a:xfrm>
            <a:custGeom>
              <a:avLst/>
              <a:gdLst>
                <a:gd name="T0" fmla="*/ 0 w 1709"/>
                <a:gd name="T1" fmla="*/ 986 h 1709"/>
                <a:gd name="T2" fmla="*/ 0 w 1709"/>
                <a:gd name="T3" fmla="*/ 0 h 1709"/>
                <a:gd name="T4" fmla="*/ 987 w 1709"/>
                <a:gd name="T5" fmla="*/ 0 h 1709"/>
                <a:gd name="T6" fmla="*/ 1709 w 1709"/>
                <a:gd name="T7" fmla="*/ 722 h 1709"/>
                <a:gd name="T8" fmla="*/ 721 w 1709"/>
                <a:gd name="T9" fmla="*/ 1709 h 1709"/>
                <a:gd name="T10" fmla="*/ 0 w 1709"/>
                <a:gd name="T11" fmla="*/ 986 h 17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09" h="1709">
                  <a:moveTo>
                    <a:pt x="0" y="986"/>
                  </a:moveTo>
                  <a:lnTo>
                    <a:pt x="0" y="0"/>
                  </a:lnTo>
                  <a:lnTo>
                    <a:pt x="987" y="0"/>
                  </a:lnTo>
                  <a:lnTo>
                    <a:pt x="1709" y="722"/>
                  </a:lnTo>
                  <a:lnTo>
                    <a:pt x="721" y="1709"/>
                  </a:lnTo>
                  <a:lnTo>
                    <a:pt x="0" y="986"/>
                  </a:lnTo>
                  <a:close/>
                </a:path>
              </a:pathLst>
            </a:custGeom>
            <a:gradFill>
              <a:gsLst>
                <a:gs pos="0">
                  <a:srgbClr val="86C1A8"/>
                </a:gs>
                <a:gs pos="74000">
                  <a:srgbClr val="0080C8"/>
                </a:gs>
              </a:gsLst>
              <a:lin ang="2700000" scaled="0"/>
            </a:gradFill>
            <a:ln w="222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028" tIns="45514" rIns="91028" bIns="45514" anchor="ctr"/>
            <a:lstStyle/>
            <a:p>
              <a:pPr algn="ctr">
                <a:defRPr/>
              </a:pPr>
              <a:endParaRPr lang="zh-CN" altLang="en-US" sz="2255"/>
            </a:p>
          </p:txBody>
        </p:sp>
        <p:grpSp>
          <p:nvGrpSpPr>
            <p:cNvPr id="187" name="组合 186"/>
            <p:cNvGrpSpPr/>
            <p:nvPr/>
          </p:nvGrpSpPr>
          <p:grpSpPr>
            <a:xfrm>
              <a:off x="6740737" y="2917865"/>
              <a:ext cx="2163364" cy="2136517"/>
              <a:chOff x="6740737" y="2917865"/>
              <a:chExt cx="2163364" cy="2136517"/>
            </a:xfrm>
          </p:grpSpPr>
          <p:sp>
            <p:nvSpPr>
              <p:cNvPr id="188" name="Freeform 10"/>
              <p:cNvSpPr/>
              <p:nvPr/>
            </p:nvSpPr>
            <p:spPr bwMode="auto">
              <a:xfrm>
                <a:off x="6740737" y="2917865"/>
                <a:ext cx="2163364" cy="2136517"/>
              </a:xfrm>
              <a:custGeom>
                <a:avLst/>
                <a:gdLst>
                  <a:gd name="T0" fmla="*/ 0 w 1709"/>
                  <a:gd name="T1" fmla="*/ 1565275 h 1709"/>
                  <a:gd name="T2" fmla="*/ 0 w 1709"/>
                  <a:gd name="T3" fmla="*/ 0 h 1709"/>
                  <a:gd name="T4" fmla="*/ 1566863 w 1709"/>
                  <a:gd name="T5" fmla="*/ 0 h 1709"/>
                  <a:gd name="T6" fmla="*/ 2713038 w 1709"/>
                  <a:gd name="T7" fmla="*/ 1146175 h 1709"/>
                  <a:gd name="T8" fmla="*/ 1144588 w 1709"/>
                  <a:gd name="T9" fmla="*/ 2713038 h 1709"/>
                  <a:gd name="T10" fmla="*/ 0 w 1709"/>
                  <a:gd name="T11" fmla="*/ 1565275 h 170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709" h="1709">
                    <a:moveTo>
                      <a:pt x="0" y="986"/>
                    </a:moveTo>
                    <a:lnTo>
                      <a:pt x="0" y="0"/>
                    </a:lnTo>
                    <a:lnTo>
                      <a:pt x="987" y="0"/>
                    </a:lnTo>
                    <a:lnTo>
                      <a:pt x="1709" y="722"/>
                    </a:lnTo>
                    <a:lnTo>
                      <a:pt x="721" y="1709"/>
                    </a:lnTo>
                    <a:lnTo>
                      <a:pt x="0" y="986"/>
                    </a:ln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lIns="91028" tIns="45514" rIns="91028" bIns="45514"/>
              <a:lstStyle/>
              <a:p>
                <a:r>
                  <a:rPr lang="en-US" altLang="zh-CN" sz="2255" dirty="0">
                    <a:solidFill>
                      <a:schemeClr val="lt1"/>
                    </a:solidFill>
                    <a:sym typeface="+mn-ea"/>
                  </a:rPr>
                  <a:t>MySQL</a:t>
                </a:r>
                <a:endParaRPr lang="zh-CN" altLang="en-US" sz="2255" dirty="0"/>
              </a:p>
            </p:txBody>
          </p:sp>
          <p:grpSp>
            <p:nvGrpSpPr>
              <p:cNvPr id="189" name="组合 103"/>
              <p:cNvGrpSpPr/>
              <p:nvPr/>
            </p:nvGrpSpPr>
            <p:grpSpPr bwMode="auto">
              <a:xfrm>
                <a:off x="7435696" y="3289162"/>
                <a:ext cx="532930" cy="531316"/>
                <a:chOff x="9488488" y="4192588"/>
                <a:chExt cx="341313" cy="344487"/>
              </a:xfrm>
            </p:grpSpPr>
            <p:sp>
              <p:nvSpPr>
                <p:cNvPr id="190" name="Freeform 48"/>
                <p:cNvSpPr>
                  <a:spLocks noEditPoints="1"/>
                </p:cNvSpPr>
                <p:nvPr/>
              </p:nvSpPr>
              <p:spPr bwMode="auto">
                <a:xfrm>
                  <a:off x="9567863" y="4206875"/>
                  <a:ext cx="182563" cy="330200"/>
                </a:xfrm>
                <a:custGeom>
                  <a:avLst/>
                  <a:gdLst>
                    <a:gd name="T0" fmla="*/ 91282 w 70"/>
                    <a:gd name="T1" fmla="*/ 330200 h 126"/>
                    <a:gd name="T2" fmla="*/ 0 w 70"/>
                    <a:gd name="T3" fmla="*/ 165100 h 126"/>
                    <a:gd name="T4" fmla="*/ 91282 w 70"/>
                    <a:gd name="T5" fmla="*/ 0 h 126"/>
                    <a:gd name="T6" fmla="*/ 182563 w 70"/>
                    <a:gd name="T7" fmla="*/ 165100 h 126"/>
                    <a:gd name="T8" fmla="*/ 91282 w 70"/>
                    <a:gd name="T9" fmla="*/ 330200 h 126"/>
                    <a:gd name="T10" fmla="*/ 91282 w 70"/>
                    <a:gd name="T11" fmla="*/ 15724 h 126"/>
                    <a:gd name="T12" fmla="*/ 15648 w 70"/>
                    <a:gd name="T13" fmla="*/ 165100 h 126"/>
                    <a:gd name="T14" fmla="*/ 91282 w 70"/>
                    <a:gd name="T15" fmla="*/ 314476 h 126"/>
                    <a:gd name="T16" fmla="*/ 166915 w 70"/>
                    <a:gd name="T17" fmla="*/ 165100 h 126"/>
                    <a:gd name="T18" fmla="*/ 91282 w 70"/>
                    <a:gd name="T19" fmla="*/ 15724 h 12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70" h="126">
                      <a:moveTo>
                        <a:pt x="35" y="126"/>
                      </a:moveTo>
                      <a:cubicBezTo>
                        <a:pt x="15" y="126"/>
                        <a:pt x="0" y="98"/>
                        <a:pt x="0" y="63"/>
                      </a:cubicBezTo>
                      <a:cubicBezTo>
                        <a:pt x="0" y="27"/>
                        <a:pt x="15" y="0"/>
                        <a:pt x="35" y="0"/>
                      </a:cubicBezTo>
                      <a:cubicBezTo>
                        <a:pt x="55" y="0"/>
                        <a:pt x="70" y="27"/>
                        <a:pt x="70" y="63"/>
                      </a:cubicBezTo>
                      <a:cubicBezTo>
                        <a:pt x="70" y="98"/>
                        <a:pt x="55" y="126"/>
                        <a:pt x="35" y="126"/>
                      </a:cubicBezTo>
                      <a:close/>
                      <a:moveTo>
                        <a:pt x="35" y="6"/>
                      </a:moveTo>
                      <a:cubicBezTo>
                        <a:pt x="19" y="6"/>
                        <a:pt x="6" y="32"/>
                        <a:pt x="6" y="63"/>
                      </a:cubicBezTo>
                      <a:cubicBezTo>
                        <a:pt x="6" y="93"/>
                        <a:pt x="19" y="120"/>
                        <a:pt x="35" y="120"/>
                      </a:cubicBezTo>
                      <a:cubicBezTo>
                        <a:pt x="51" y="120"/>
                        <a:pt x="64" y="93"/>
                        <a:pt x="64" y="63"/>
                      </a:cubicBezTo>
                      <a:cubicBezTo>
                        <a:pt x="64" y="32"/>
                        <a:pt x="51" y="6"/>
                        <a:pt x="35" y="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2255"/>
                </a:p>
              </p:txBody>
            </p:sp>
            <p:sp>
              <p:nvSpPr>
                <p:cNvPr id="191" name="Freeform 49"/>
                <p:cNvSpPr>
                  <a:spLocks noEditPoints="1"/>
                </p:cNvSpPr>
                <p:nvPr/>
              </p:nvSpPr>
              <p:spPr bwMode="auto">
                <a:xfrm>
                  <a:off x="9488488" y="4260850"/>
                  <a:ext cx="341313" cy="219075"/>
                </a:xfrm>
                <a:custGeom>
                  <a:avLst/>
                  <a:gdLst>
                    <a:gd name="T0" fmla="*/ 105019 w 130"/>
                    <a:gd name="T1" fmla="*/ 219075 h 83"/>
                    <a:gd name="T2" fmla="*/ 21004 w 130"/>
                    <a:gd name="T3" fmla="*/ 179483 h 83"/>
                    <a:gd name="T4" fmla="*/ 131274 w 130"/>
                    <a:gd name="T5" fmla="*/ 23755 h 83"/>
                    <a:gd name="T6" fmla="*/ 236294 w 130"/>
                    <a:gd name="T7" fmla="*/ 0 h 83"/>
                    <a:gd name="T8" fmla="*/ 320309 w 130"/>
                    <a:gd name="T9" fmla="*/ 39592 h 83"/>
                    <a:gd name="T10" fmla="*/ 210039 w 130"/>
                    <a:gd name="T11" fmla="*/ 195320 h 83"/>
                    <a:gd name="T12" fmla="*/ 105019 w 130"/>
                    <a:gd name="T13" fmla="*/ 219075 h 83"/>
                    <a:gd name="T14" fmla="*/ 236294 w 130"/>
                    <a:gd name="T15" fmla="*/ 15837 h 83"/>
                    <a:gd name="T16" fmla="*/ 139151 w 130"/>
                    <a:gd name="T17" fmla="*/ 39592 h 83"/>
                    <a:gd name="T18" fmla="*/ 34131 w 130"/>
                    <a:gd name="T19" fmla="*/ 174204 h 83"/>
                    <a:gd name="T20" fmla="*/ 105019 w 130"/>
                    <a:gd name="T21" fmla="*/ 203238 h 83"/>
                    <a:gd name="T22" fmla="*/ 202162 w 130"/>
                    <a:gd name="T23" fmla="*/ 179483 h 83"/>
                    <a:gd name="T24" fmla="*/ 307182 w 130"/>
                    <a:gd name="T25" fmla="*/ 44871 h 83"/>
                    <a:gd name="T26" fmla="*/ 236294 w 130"/>
                    <a:gd name="T27" fmla="*/ 15837 h 83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0" t="0" r="r" b="b"/>
                  <a:pathLst>
                    <a:path w="130" h="83">
                      <a:moveTo>
                        <a:pt x="40" y="83"/>
                      </a:moveTo>
                      <a:cubicBezTo>
                        <a:pt x="24" y="83"/>
                        <a:pt x="12" y="78"/>
                        <a:pt x="8" y="68"/>
                      </a:cubicBezTo>
                      <a:cubicBezTo>
                        <a:pt x="0" y="50"/>
                        <a:pt x="18" y="24"/>
                        <a:pt x="50" y="9"/>
                      </a:cubicBezTo>
                      <a:cubicBezTo>
                        <a:pt x="63" y="3"/>
                        <a:pt x="78" y="0"/>
                        <a:pt x="90" y="0"/>
                      </a:cubicBezTo>
                      <a:cubicBezTo>
                        <a:pt x="106" y="0"/>
                        <a:pt x="118" y="5"/>
                        <a:pt x="122" y="15"/>
                      </a:cubicBezTo>
                      <a:cubicBezTo>
                        <a:pt x="130" y="33"/>
                        <a:pt x="112" y="59"/>
                        <a:pt x="80" y="74"/>
                      </a:cubicBezTo>
                      <a:cubicBezTo>
                        <a:pt x="67" y="80"/>
                        <a:pt x="52" y="83"/>
                        <a:pt x="40" y="83"/>
                      </a:cubicBezTo>
                      <a:close/>
                      <a:moveTo>
                        <a:pt x="90" y="6"/>
                      </a:moveTo>
                      <a:cubicBezTo>
                        <a:pt x="79" y="6"/>
                        <a:pt x="65" y="9"/>
                        <a:pt x="53" y="15"/>
                      </a:cubicBezTo>
                      <a:cubicBezTo>
                        <a:pt x="25" y="28"/>
                        <a:pt x="7" y="51"/>
                        <a:pt x="13" y="66"/>
                      </a:cubicBezTo>
                      <a:cubicBezTo>
                        <a:pt x="17" y="73"/>
                        <a:pt x="26" y="77"/>
                        <a:pt x="40" y="77"/>
                      </a:cubicBezTo>
                      <a:cubicBezTo>
                        <a:pt x="51" y="77"/>
                        <a:pt x="65" y="74"/>
                        <a:pt x="77" y="68"/>
                      </a:cubicBezTo>
                      <a:cubicBezTo>
                        <a:pt x="105" y="55"/>
                        <a:pt x="123" y="32"/>
                        <a:pt x="117" y="17"/>
                      </a:cubicBezTo>
                      <a:cubicBezTo>
                        <a:pt x="113" y="10"/>
                        <a:pt x="104" y="6"/>
                        <a:pt x="90" y="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2255"/>
                </a:p>
              </p:txBody>
            </p:sp>
            <p:sp>
              <p:nvSpPr>
                <p:cNvPr id="192" name="Freeform 50"/>
                <p:cNvSpPr>
                  <a:spLocks noEditPoints="1"/>
                </p:cNvSpPr>
                <p:nvPr/>
              </p:nvSpPr>
              <p:spPr bwMode="auto">
                <a:xfrm>
                  <a:off x="9493250" y="4267200"/>
                  <a:ext cx="331788" cy="206375"/>
                </a:xfrm>
                <a:custGeom>
                  <a:avLst/>
                  <a:gdLst>
                    <a:gd name="T0" fmla="*/ 223825 w 126"/>
                    <a:gd name="T1" fmla="*/ 206375 h 79"/>
                    <a:gd name="T2" fmla="*/ 134295 w 126"/>
                    <a:gd name="T3" fmla="*/ 190701 h 79"/>
                    <a:gd name="T4" fmla="*/ 34232 w 126"/>
                    <a:gd name="T5" fmla="*/ 125392 h 79"/>
                    <a:gd name="T6" fmla="*/ 10533 w 126"/>
                    <a:gd name="T7" fmla="*/ 47022 h 79"/>
                    <a:gd name="T8" fmla="*/ 107963 w 126"/>
                    <a:gd name="T9" fmla="*/ 0 h 79"/>
                    <a:gd name="T10" fmla="*/ 197493 w 126"/>
                    <a:gd name="T11" fmla="*/ 15674 h 79"/>
                    <a:gd name="T12" fmla="*/ 297556 w 126"/>
                    <a:gd name="T13" fmla="*/ 80983 h 79"/>
                    <a:gd name="T14" fmla="*/ 321255 w 126"/>
                    <a:gd name="T15" fmla="*/ 159353 h 79"/>
                    <a:gd name="T16" fmla="*/ 223825 w 126"/>
                    <a:gd name="T17" fmla="*/ 206375 h 79"/>
                    <a:gd name="T18" fmla="*/ 107963 w 126"/>
                    <a:gd name="T19" fmla="*/ 15674 h 79"/>
                    <a:gd name="T20" fmla="*/ 23699 w 126"/>
                    <a:gd name="T21" fmla="*/ 52247 h 79"/>
                    <a:gd name="T22" fmla="*/ 47398 w 126"/>
                    <a:gd name="T23" fmla="*/ 117555 h 79"/>
                    <a:gd name="T24" fmla="*/ 139562 w 126"/>
                    <a:gd name="T25" fmla="*/ 175027 h 79"/>
                    <a:gd name="T26" fmla="*/ 223825 w 126"/>
                    <a:gd name="T27" fmla="*/ 190701 h 79"/>
                    <a:gd name="T28" fmla="*/ 308089 w 126"/>
                    <a:gd name="T29" fmla="*/ 154128 h 79"/>
                    <a:gd name="T30" fmla="*/ 284390 w 126"/>
                    <a:gd name="T31" fmla="*/ 88820 h 79"/>
                    <a:gd name="T32" fmla="*/ 192226 w 126"/>
                    <a:gd name="T33" fmla="*/ 31348 h 79"/>
                    <a:gd name="T34" fmla="*/ 107963 w 126"/>
                    <a:gd name="T35" fmla="*/ 15674 h 79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0" t="0" r="r" b="b"/>
                  <a:pathLst>
                    <a:path w="126" h="79">
                      <a:moveTo>
                        <a:pt x="85" y="79"/>
                      </a:moveTo>
                      <a:cubicBezTo>
                        <a:pt x="74" y="79"/>
                        <a:pt x="63" y="77"/>
                        <a:pt x="51" y="73"/>
                      </a:cubicBezTo>
                      <a:cubicBezTo>
                        <a:pt x="35" y="67"/>
                        <a:pt x="22" y="58"/>
                        <a:pt x="13" y="48"/>
                      </a:cubicBezTo>
                      <a:cubicBezTo>
                        <a:pt x="4" y="38"/>
                        <a:pt x="0" y="27"/>
                        <a:pt x="4" y="18"/>
                      </a:cubicBezTo>
                      <a:cubicBezTo>
                        <a:pt x="8" y="7"/>
                        <a:pt x="22" y="0"/>
                        <a:pt x="41" y="0"/>
                      </a:cubicBezTo>
                      <a:cubicBezTo>
                        <a:pt x="52" y="0"/>
                        <a:pt x="63" y="2"/>
                        <a:pt x="75" y="6"/>
                      </a:cubicBezTo>
                      <a:cubicBezTo>
                        <a:pt x="91" y="12"/>
                        <a:pt x="104" y="21"/>
                        <a:pt x="113" y="31"/>
                      </a:cubicBezTo>
                      <a:cubicBezTo>
                        <a:pt x="122" y="41"/>
                        <a:pt x="126" y="52"/>
                        <a:pt x="122" y="61"/>
                      </a:cubicBezTo>
                      <a:cubicBezTo>
                        <a:pt x="118" y="72"/>
                        <a:pt x="104" y="79"/>
                        <a:pt x="85" y="79"/>
                      </a:cubicBezTo>
                      <a:close/>
                      <a:moveTo>
                        <a:pt x="41" y="6"/>
                      </a:moveTo>
                      <a:cubicBezTo>
                        <a:pt x="24" y="6"/>
                        <a:pt x="13" y="11"/>
                        <a:pt x="9" y="20"/>
                      </a:cubicBezTo>
                      <a:cubicBezTo>
                        <a:pt x="7" y="27"/>
                        <a:pt x="10" y="36"/>
                        <a:pt x="18" y="45"/>
                      </a:cubicBezTo>
                      <a:cubicBezTo>
                        <a:pt x="26" y="54"/>
                        <a:pt x="38" y="62"/>
                        <a:pt x="53" y="67"/>
                      </a:cubicBezTo>
                      <a:cubicBezTo>
                        <a:pt x="64" y="71"/>
                        <a:pt x="75" y="73"/>
                        <a:pt x="85" y="73"/>
                      </a:cubicBezTo>
                      <a:cubicBezTo>
                        <a:pt x="102" y="73"/>
                        <a:pt x="113" y="68"/>
                        <a:pt x="117" y="59"/>
                      </a:cubicBezTo>
                      <a:cubicBezTo>
                        <a:pt x="119" y="52"/>
                        <a:pt x="116" y="43"/>
                        <a:pt x="108" y="34"/>
                      </a:cubicBezTo>
                      <a:cubicBezTo>
                        <a:pt x="100" y="25"/>
                        <a:pt x="88" y="17"/>
                        <a:pt x="73" y="12"/>
                      </a:cubicBezTo>
                      <a:cubicBezTo>
                        <a:pt x="62" y="8"/>
                        <a:pt x="51" y="6"/>
                        <a:pt x="41" y="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2255"/>
                </a:p>
              </p:txBody>
            </p:sp>
            <p:sp>
              <p:nvSpPr>
                <p:cNvPr id="193" name="Oval 51"/>
                <p:cNvSpPr>
                  <a:spLocks noChangeArrowheads="1"/>
                </p:cNvSpPr>
                <p:nvPr/>
              </p:nvSpPr>
              <p:spPr bwMode="auto">
                <a:xfrm>
                  <a:off x="9617075" y="4329113"/>
                  <a:ext cx="84138" cy="84138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Calibri" panose="020F0502020204030204" charset="0"/>
                      <a:ea typeface="微软雅黑" panose="020B0503020204020204" pitchFamily="34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alibri" panose="020F0502020204030204" charset="0"/>
                      <a:ea typeface="微软雅黑" panose="020B0503020204020204" pitchFamily="34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alibri" panose="020F0502020204030204" charset="0"/>
                      <a:ea typeface="微软雅黑" panose="020B0503020204020204" pitchFamily="34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alibri" panose="020F0502020204030204" charset="0"/>
                      <a:ea typeface="微软雅黑" panose="020B0503020204020204" pitchFamily="34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alibri" panose="020F0502020204030204" charset="0"/>
                      <a:ea typeface="微软雅黑" panose="020B0503020204020204" pitchFamily="34" charset="-122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charset="0"/>
                      <a:ea typeface="微软雅黑" panose="020B0503020204020204" pitchFamily="34" charset="-122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charset="0"/>
                      <a:ea typeface="微软雅黑" panose="020B0503020204020204" pitchFamily="34" charset="-122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charset="0"/>
                      <a:ea typeface="微软雅黑" panose="020B0503020204020204" pitchFamily="34" charset="-122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charset="0"/>
                      <a:ea typeface="微软雅黑" panose="020B0503020204020204" pitchFamily="34" charset="-122"/>
                    </a:defRPr>
                  </a:lvl9pPr>
                </a:lstStyle>
                <a:p>
                  <a:endParaRPr lang="zh-CN" altLang="en-US" sz="2255"/>
                </a:p>
              </p:txBody>
            </p:sp>
            <p:sp>
              <p:nvSpPr>
                <p:cNvPr id="194" name="Oval 52"/>
                <p:cNvSpPr>
                  <a:spLocks noChangeArrowheads="1"/>
                </p:cNvSpPr>
                <p:nvPr/>
              </p:nvSpPr>
              <p:spPr bwMode="auto">
                <a:xfrm>
                  <a:off x="9785350" y="4413250"/>
                  <a:ext cx="41275" cy="42863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Calibri" panose="020F0502020204030204" charset="0"/>
                      <a:ea typeface="微软雅黑" panose="020B0503020204020204" pitchFamily="34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alibri" panose="020F0502020204030204" charset="0"/>
                      <a:ea typeface="微软雅黑" panose="020B0503020204020204" pitchFamily="34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alibri" panose="020F0502020204030204" charset="0"/>
                      <a:ea typeface="微软雅黑" panose="020B0503020204020204" pitchFamily="34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alibri" panose="020F0502020204030204" charset="0"/>
                      <a:ea typeface="微软雅黑" panose="020B0503020204020204" pitchFamily="34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alibri" panose="020F0502020204030204" charset="0"/>
                      <a:ea typeface="微软雅黑" panose="020B0503020204020204" pitchFamily="34" charset="-122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charset="0"/>
                      <a:ea typeface="微软雅黑" panose="020B0503020204020204" pitchFamily="34" charset="-122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charset="0"/>
                      <a:ea typeface="微软雅黑" panose="020B0503020204020204" pitchFamily="34" charset="-122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charset="0"/>
                      <a:ea typeface="微软雅黑" panose="020B0503020204020204" pitchFamily="34" charset="-122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charset="0"/>
                      <a:ea typeface="微软雅黑" panose="020B0503020204020204" pitchFamily="34" charset="-122"/>
                    </a:defRPr>
                  </a:lvl9pPr>
                </a:lstStyle>
                <a:p>
                  <a:endParaRPr lang="zh-CN" altLang="en-US" sz="2255"/>
                </a:p>
              </p:txBody>
            </p:sp>
            <p:sp>
              <p:nvSpPr>
                <p:cNvPr id="195" name="Oval 53"/>
                <p:cNvSpPr>
                  <a:spLocks noChangeArrowheads="1"/>
                </p:cNvSpPr>
                <p:nvPr/>
              </p:nvSpPr>
              <p:spPr bwMode="auto">
                <a:xfrm>
                  <a:off x="9491663" y="4413250"/>
                  <a:ext cx="41275" cy="42863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Calibri" panose="020F0502020204030204" charset="0"/>
                      <a:ea typeface="微软雅黑" panose="020B0503020204020204" pitchFamily="34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alibri" panose="020F0502020204030204" charset="0"/>
                      <a:ea typeface="微软雅黑" panose="020B0503020204020204" pitchFamily="34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alibri" panose="020F0502020204030204" charset="0"/>
                      <a:ea typeface="微软雅黑" panose="020B0503020204020204" pitchFamily="34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alibri" panose="020F0502020204030204" charset="0"/>
                      <a:ea typeface="微软雅黑" panose="020B0503020204020204" pitchFamily="34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alibri" panose="020F0502020204030204" charset="0"/>
                      <a:ea typeface="微软雅黑" panose="020B0503020204020204" pitchFamily="34" charset="-122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charset="0"/>
                      <a:ea typeface="微软雅黑" panose="020B0503020204020204" pitchFamily="34" charset="-122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charset="0"/>
                      <a:ea typeface="微软雅黑" panose="020B0503020204020204" pitchFamily="34" charset="-122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charset="0"/>
                      <a:ea typeface="微软雅黑" panose="020B0503020204020204" pitchFamily="34" charset="-122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charset="0"/>
                      <a:ea typeface="微软雅黑" panose="020B0503020204020204" pitchFamily="34" charset="-122"/>
                    </a:defRPr>
                  </a:lvl9pPr>
                </a:lstStyle>
                <a:p>
                  <a:endParaRPr lang="zh-CN" altLang="en-US" sz="2255"/>
                </a:p>
              </p:txBody>
            </p:sp>
            <p:sp>
              <p:nvSpPr>
                <p:cNvPr id="196" name="Oval 54"/>
                <p:cNvSpPr>
                  <a:spLocks noChangeArrowheads="1"/>
                </p:cNvSpPr>
                <p:nvPr/>
              </p:nvSpPr>
              <p:spPr bwMode="auto">
                <a:xfrm>
                  <a:off x="9637713" y="4192588"/>
                  <a:ext cx="42863" cy="42863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Calibri" panose="020F0502020204030204" charset="0"/>
                      <a:ea typeface="微软雅黑" panose="020B0503020204020204" pitchFamily="34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alibri" panose="020F0502020204030204" charset="0"/>
                      <a:ea typeface="微软雅黑" panose="020B0503020204020204" pitchFamily="34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alibri" panose="020F0502020204030204" charset="0"/>
                      <a:ea typeface="微软雅黑" panose="020B0503020204020204" pitchFamily="34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alibri" panose="020F0502020204030204" charset="0"/>
                      <a:ea typeface="微软雅黑" panose="020B0503020204020204" pitchFamily="34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alibri" panose="020F0502020204030204" charset="0"/>
                      <a:ea typeface="微软雅黑" panose="020B0503020204020204" pitchFamily="34" charset="-122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charset="0"/>
                      <a:ea typeface="微软雅黑" panose="020B0503020204020204" pitchFamily="34" charset="-122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charset="0"/>
                      <a:ea typeface="微软雅黑" panose="020B0503020204020204" pitchFamily="34" charset="-122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charset="0"/>
                      <a:ea typeface="微软雅黑" panose="020B0503020204020204" pitchFamily="34" charset="-122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charset="0"/>
                      <a:ea typeface="微软雅黑" panose="020B0503020204020204" pitchFamily="34" charset="-122"/>
                    </a:defRPr>
                  </a:lvl9pPr>
                </a:lstStyle>
                <a:p>
                  <a:endParaRPr lang="zh-CN" altLang="en-US" sz="2255"/>
                </a:p>
              </p:txBody>
            </p:sp>
          </p:grpSp>
        </p:grpSp>
      </p:grpSp>
      <p:sp>
        <p:nvSpPr>
          <p:cNvPr id="184" name="Freeform 7"/>
          <p:cNvSpPr/>
          <p:nvPr/>
        </p:nvSpPr>
        <p:spPr bwMode="auto">
          <a:xfrm>
            <a:off x="6256507" y="3718997"/>
            <a:ext cx="2714625" cy="2679368"/>
          </a:xfrm>
          <a:custGeom>
            <a:avLst/>
            <a:gdLst>
              <a:gd name="T0" fmla="*/ 1710 w 1710"/>
              <a:gd name="T1" fmla="*/ 986 h 1709"/>
              <a:gd name="T2" fmla="*/ 1710 w 1710"/>
              <a:gd name="T3" fmla="*/ 0 h 1709"/>
              <a:gd name="T4" fmla="*/ 722 w 1710"/>
              <a:gd name="T5" fmla="*/ 0 h 1709"/>
              <a:gd name="T6" fmla="*/ 0 w 1710"/>
              <a:gd name="T7" fmla="*/ 722 h 1709"/>
              <a:gd name="T8" fmla="*/ 988 w 1710"/>
              <a:gd name="T9" fmla="*/ 1709 h 1709"/>
              <a:gd name="T10" fmla="*/ 1710 w 1710"/>
              <a:gd name="T11" fmla="*/ 986 h 17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710" h="1709">
                <a:moveTo>
                  <a:pt x="1710" y="986"/>
                </a:moveTo>
                <a:lnTo>
                  <a:pt x="1710" y="0"/>
                </a:lnTo>
                <a:lnTo>
                  <a:pt x="722" y="0"/>
                </a:lnTo>
                <a:lnTo>
                  <a:pt x="0" y="722"/>
                </a:lnTo>
                <a:lnTo>
                  <a:pt x="988" y="1709"/>
                </a:lnTo>
                <a:lnTo>
                  <a:pt x="1710" y="986"/>
                </a:lnTo>
                <a:close/>
              </a:path>
            </a:pathLst>
          </a:custGeom>
          <a:solidFill>
            <a:schemeClr val="accent2"/>
          </a:solidFill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028" tIns="45514" rIns="91028" bIns="45514" anchor="ctr"/>
          <a:p>
            <a:pPr algn="ctr">
              <a:defRPr/>
            </a:pPr>
            <a:endParaRPr lang="en-US" altLang="zh-CN" sz="2255" dirty="0"/>
          </a:p>
          <a:p>
            <a:pPr algn="ctr">
              <a:defRPr/>
            </a:pPr>
            <a:r>
              <a:rPr lang="en-US" altLang="zh-CN" sz="2255" dirty="0"/>
              <a:t>      </a:t>
            </a:r>
            <a:r>
              <a:rPr lang="zh-CN" altLang="en-US" sz="2255" dirty="0"/>
              <a:t>网络</a:t>
            </a:r>
            <a:r>
              <a:rPr lang="zh-CN" altLang="en-US" sz="2255" dirty="0"/>
              <a:t>爬虫</a:t>
            </a:r>
            <a:endParaRPr lang="zh-CN" altLang="en-US" sz="2255" dirty="0"/>
          </a:p>
        </p:txBody>
      </p:sp>
      <p:grpSp>
        <p:nvGrpSpPr>
          <p:cNvPr id="176" name="组合 175"/>
          <p:cNvGrpSpPr/>
          <p:nvPr/>
        </p:nvGrpSpPr>
        <p:grpSpPr>
          <a:xfrm>
            <a:off x="9080668" y="915773"/>
            <a:ext cx="2722563" cy="2688775"/>
            <a:chOff x="6742002" y="682586"/>
            <a:chExt cx="2170960" cy="2144018"/>
          </a:xfrm>
        </p:grpSpPr>
        <p:sp>
          <p:nvSpPr>
            <p:cNvPr id="177" name="Freeform 5"/>
            <p:cNvSpPr/>
            <p:nvPr/>
          </p:nvSpPr>
          <p:spPr bwMode="auto">
            <a:xfrm>
              <a:off x="6742002" y="682586"/>
              <a:ext cx="2170960" cy="2144018"/>
            </a:xfrm>
            <a:custGeom>
              <a:avLst/>
              <a:gdLst>
                <a:gd name="T0" fmla="*/ 988 w 1715"/>
                <a:gd name="T1" fmla="*/ 1715 h 1715"/>
                <a:gd name="T2" fmla="*/ 0 w 1715"/>
                <a:gd name="T3" fmla="*/ 1715 h 1715"/>
                <a:gd name="T4" fmla="*/ 0 w 1715"/>
                <a:gd name="T5" fmla="*/ 727 h 1715"/>
                <a:gd name="T6" fmla="*/ 727 w 1715"/>
                <a:gd name="T7" fmla="*/ 0 h 1715"/>
                <a:gd name="T8" fmla="*/ 1715 w 1715"/>
                <a:gd name="T9" fmla="*/ 986 h 1715"/>
                <a:gd name="T10" fmla="*/ 988 w 1715"/>
                <a:gd name="T11" fmla="*/ 1715 h 17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15" h="1715">
                  <a:moveTo>
                    <a:pt x="988" y="1715"/>
                  </a:moveTo>
                  <a:lnTo>
                    <a:pt x="0" y="1715"/>
                  </a:lnTo>
                  <a:lnTo>
                    <a:pt x="0" y="727"/>
                  </a:lnTo>
                  <a:lnTo>
                    <a:pt x="727" y="0"/>
                  </a:lnTo>
                  <a:lnTo>
                    <a:pt x="1715" y="986"/>
                  </a:lnTo>
                  <a:lnTo>
                    <a:pt x="988" y="1715"/>
                  </a:lnTo>
                  <a:close/>
                </a:path>
              </a:pathLst>
            </a:custGeom>
            <a:solidFill>
              <a:schemeClr val="accent1"/>
            </a:solidFill>
            <a:ln w="222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028" tIns="45514" rIns="91028" bIns="45514" anchor="ctr"/>
            <a:p>
              <a:pPr algn="ctr">
                <a:defRPr/>
              </a:pPr>
              <a:endParaRPr lang="en-US" altLang="zh-CN" sz="2255" dirty="0"/>
            </a:p>
            <a:p>
              <a:pPr algn="ctr">
                <a:defRPr/>
              </a:pPr>
              <a:r>
                <a:rPr lang="en-US" altLang="zh-CN" sz="2255" dirty="0"/>
                <a:t>Django</a:t>
              </a:r>
              <a:endParaRPr lang="en-US" altLang="zh-CN" sz="2255" dirty="0"/>
            </a:p>
          </p:txBody>
        </p:sp>
        <p:grpSp>
          <p:nvGrpSpPr>
            <p:cNvPr id="178" name="组合 78"/>
            <p:cNvGrpSpPr/>
            <p:nvPr/>
          </p:nvGrpSpPr>
          <p:grpSpPr bwMode="auto">
            <a:xfrm>
              <a:off x="7486331" y="1213903"/>
              <a:ext cx="431661" cy="356294"/>
              <a:chOff x="9478963" y="1489075"/>
              <a:chExt cx="307975" cy="257176"/>
            </a:xfrm>
          </p:grpSpPr>
          <p:sp>
            <p:nvSpPr>
              <p:cNvPr id="179" name="Freeform 26"/>
              <p:cNvSpPr/>
              <p:nvPr/>
            </p:nvSpPr>
            <p:spPr bwMode="auto">
              <a:xfrm>
                <a:off x="9478963" y="1706563"/>
                <a:ext cx="307975" cy="39688"/>
              </a:xfrm>
              <a:custGeom>
                <a:avLst/>
                <a:gdLst>
                  <a:gd name="T0" fmla="*/ 307975 w 118"/>
                  <a:gd name="T1" fmla="*/ 18521 h 15"/>
                  <a:gd name="T2" fmla="*/ 287095 w 118"/>
                  <a:gd name="T3" fmla="*/ 39688 h 15"/>
                  <a:gd name="T4" fmla="*/ 18270 w 118"/>
                  <a:gd name="T5" fmla="*/ 39688 h 15"/>
                  <a:gd name="T6" fmla="*/ 0 w 118"/>
                  <a:gd name="T7" fmla="*/ 18521 h 15"/>
                  <a:gd name="T8" fmla="*/ 18270 w 118"/>
                  <a:gd name="T9" fmla="*/ 0 h 15"/>
                  <a:gd name="T10" fmla="*/ 287095 w 118"/>
                  <a:gd name="T11" fmla="*/ 0 h 15"/>
                  <a:gd name="T12" fmla="*/ 307975 w 118"/>
                  <a:gd name="T13" fmla="*/ 18521 h 1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18" h="15">
                    <a:moveTo>
                      <a:pt x="118" y="7"/>
                    </a:moveTo>
                    <a:cubicBezTo>
                      <a:pt x="118" y="12"/>
                      <a:pt x="115" y="15"/>
                      <a:pt x="110" y="15"/>
                    </a:cubicBezTo>
                    <a:cubicBezTo>
                      <a:pt x="7" y="15"/>
                      <a:pt x="7" y="15"/>
                      <a:pt x="7" y="15"/>
                    </a:cubicBezTo>
                    <a:cubicBezTo>
                      <a:pt x="3" y="15"/>
                      <a:pt x="0" y="12"/>
                      <a:pt x="0" y="7"/>
                    </a:cubicBezTo>
                    <a:cubicBezTo>
                      <a:pt x="0" y="3"/>
                      <a:pt x="3" y="0"/>
                      <a:pt x="7" y="0"/>
                    </a:cubicBezTo>
                    <a:cubicBezTo>
                      <a:pt x="110" y="0"/>
                      <a:pt x="110" y="0"/>
                      <a:pt x="110" y="0"/>
                    </a:cubicBezTo>
                    <a:cubicBezTo>
                      <a:pt x="115" y="0"/>
                      <a:pt x="118" y="3"/>
                      <a:pt x="118" y="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p>
                <a:endParaRPr lang="zh-CN" altLang="en-US" sz="2255"/>
              </a:p>
            </p:txBody>
          </p:sp>
          <p:sp>
            <p:nvSpPr>
              <p:cNvPr id="180" name="Freeform 27"/>
              <p:cNvSpPr/>
              <p:nvPr/>
            </p:nvSpPr>
            <p:spPr bwMode="auto">
              <a:xfrm>
                <a:off x="9504363" y="1562100"/>
                <a:ext cx="41275" cy="123825"/>
              </a:xfrm>
              <a:custGeom>
                <a:avLst/>
                <a:gdLst>
                  <a:gd name="T0" fmla="*/ 20638 w 16"/>
                  <a:gd name="T1" fmla="*/ 123825 h 47"/>
                  <a:gd name="T2" fmla="*/ 0 w 16"/>
                  <a:gd name="T3" fmla="*/ 102748 h 47"/>
                  <a:gd name="T4" fmla="*/ 0 w 16"/>
                  <a:gd name="T5" fmla="*/ 21077 h 47"/>
                  <a:gd name="T6" fmla="*/ 20638 w 16"/>
                  <a:gd name="T7" fmla="*/ 0 h 47"/>
                  <a:gd name="T8" fmla="*/ 41275 w 16"/>
                  <a:gd name="T9" fmla="*/ 21077 h 47"/>
                  <a:gd name="T10" fmla="*/ 41275 w 16"/>
                  <a:gd name="T11" fmla="*/ 102748 h 47"/>
                  <a:gd name="T12" fmla="*/ 20638 w 16"/>
                  <a:gd name="T13" fmla="*/ 123825 h 4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6" h="47">
                    <a:moveTo>
                      <a:pt x="8" y="47"/>
                    </a:moveTo>
                    <a:cubicBezTo>
                      <a:pt x="4" y="47"/>
                      <a:pt x="0" y="44"/>
                      <a:pt x="0" y="39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4"/>
                      <a:pt x="4" y="0"/>
                      <a:pt x="8" y="0"/>
                    </a:cubicBezTo>
                    <a:cubicBezTo>
                      <a:pt x="12" y="0"/>
                      <a:pt x="16" y="4"/>
                      <a:pt x="16" y="8"/>
                    </a:cubicBezTo>
                    <a:cubicBezTo>
                      <a:pt x="16" y="39"/>
                      <a:pt x="16" y="39"/>
                      <a:pt x="16" y="39"/>
                    </a:cubicBezTo>
                    <a:cubicBezTo>
                      <a:pt x="16" y="44"/>
                      <a:pt x="12" y="47"/>
                      <a:pt x="8" y="4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p>
                <a:endParaRPr lang="zh-CN" altLang="en-US" sz="2255"/>
              </a:p>
            </p:txBody>
          </p:sp>
          <p:sp>
            <p:nvSpPr>
              <p:cNvPr id="181" name="Freeform 28"/>
              <p:cNvSpPr/>
              <p:nvPr/>
            </p:nvSpPr>
            <p:spPr bwMode="auto">
              <a:xfrm>
                <a:off x="9577388" y="1525588"/>
                <a:ext cx="42863" cy="160338"/>
              </a:xfrm>
              <a:custGeom>
                <a:avLst/>
                <a:gdLst>
                  <a:gd name="T0" fmla="*/ 21432 w 16"/>
                  <a:gd name="T1" fmla="*/ 160338 h 61"/>
                  <a:gd name="T2" fmla="*/ 0 w 16"/>
                  <a:gd name="T3" fmla="*/ 139310 h 61"/>
                  <a:gd name="T4" fmla="*/ 0 w 16"/>
                  <a:gd name="T5" fmla="*/ 21028 h 61"/>
                  <a:gd name="T6" fmla="*/ 21432 w 16"/>
                  <a:gd name="T7" fmla="*/ 0 h 61"/>
                  <a:gd name="T8" fmla="*/ 42863 w 16"/>
                  <a:gd name="T9" fmla="*/ 21028 h 61"/>
                  <a:gd name="T10" fmla="*/ 42863 w 16"/>
                  <a:gd name="T11" fmla="*/ 139310 h 61"/>
                  <a:gd name="T12" fmla="*/ 21432 w 16"/>
                  <a:gd name="T13" fmla="*/ 160338 h 6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6" h="61">
                    <a:moveTo>
                      <a:pt x="8" y="61"/>
                    </a:moveTo>
                    <a:cubicBezTo>
                      <a:pt x="3" y="61"/>
                      <a:pt x="0" y="58"/>
                      <a:pt x="0" y="53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4"/>
                      <a:pt x="3" y="0"/>
                      <a:pt x="8" y="0"/>
                    </a:cubicBezTo>
                    <a:cubicBezTo>
                      <a:pt x="12" y="0"/>
                      <a:pt x="16" y="4"/>
                      <a:pt x="16" y="8"/>
                    </a:cubicBezTo>
                    <a:cubicBezTo>
                      <a:pt x="16" y="53"/>
                      <a:pt x="16" y="53"/>
                      <a:pt x="16" y="53"/>
                    </a:cubicBezTo>
                    <a:cubicBezTo>
                      <a:pt x="16" y="58"/>
                      <a:pt x="12" y="61"/>
                      <a:pt x="8" y="6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p>
                <a:endParaRPr lang="zh-CN" altLang="en-US" sz="2255"/>
              </a:p>
            </p:txBody>
          </p:sp>
          <p:sp>
            <p:nvSpPr>
              <p:cNvPr id="182" name="Freeform 29"/>
              <p:cNvSpPr/>
              <p:nvPr/>
            </p:nvSpPr>
            <p:spPr bwMode="auto">
              <a:xfrm>
                <a:off x="9652000" y="1489075"/>
                <a:ext cx="38100" cy="196850"/>
              </a:xfrm>
              <a:custGeom>
                <a:avLst/>
                <a:gdLst>
                  <a:gd name="T0" fmla="*/ 20320 w 15"/>
                  <a:gd name="T1" fmla="*/ 196850 h 75"/>
                  <a:gd name="T2" fmla="*/ 0 w 15"/>
                  <a:gd name="T3" fmla="*/ 175853 h 75"/>
                  <a:gd name="T4" fmla="*/ 0 w 15"/>
                  <a:gd name="T5" fmla="*/ 20997 h 75"/>
                  <a:gd name="T6" fmla="*/ 20320 w 15"/>
                  <a:gd name="T7" fmla="*/ 0 h 75"/>
                  <a:gd name="T8" fmla="*/ 38100 w 15"/>
                  <a:gd name="T9" fmla="*/ 20997 h 75"/>
                  <a:gd name="T10" fmla="*/ 38100 w 15"/>
                  <a:gd name="T11" fmla="*/ 175853 h 75"/>
                  <a:gd name="T12" fmla="*/ 20320 w 15"/>
                  <a:gd name="T13" fmla="*/ 196850 h 7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5" h="75">
                    <a:moveTo>
                      <a:pt x="8" y="75"/>
                    </a:moveTo>
                    <a:cubicBezTo>
                      <a:pt x="3" y="75"/>
                      <a:pt x="0" y="72"/>
                      <a:pt x="0" y="67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3"/>
                      <a:pt x="3" y="0"/>
                      <a:pt x="8" y="0"/>
                    </a:cubicBezTo>
                    <a:cubicBezTo>
                      <a:pt x="12" y="0"/>
                      <a:pt x="15" y="3"/>
                      <a:pt x="15" y="8"/>
                    </a:cubicBezTo>
                    <a:cubicBezTo>
                      <a:pt x="15" y="67"/>
                      <a:pt x="15" y="67"/>
                      <a:pt x="15" y="67"/>
                    </a:cubicBezTo>
                    <a:cubicBezTo>
                      <a:pt x="15" y="72"/>
                      <a:pt x="12" y="75"/>
                      <a:pt x="8" y="75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p>
                <a:endParaRPr lang="zh-CN" altLang="en-US" sz="2255"/>
              </a:p>
            </p:txBody>
          </p:sp>
          <p:sp>
            <p:nvSpPr>
              <p:cNvPr id="183" name="Freeform 30"/>
              <p:cNvSpPr/>
              <p:nvPr/>
            </p:nvSpPr>
            <p:spPr bwMode="auto">
              <a:xfrm>
                <a:off x="9725025" y="1498600"/>
                <a:ext cx="39688" cy="187325"/>
              </a:xfrm>
              <a:custGeom>
                <a:avLst/>
                <a:gdLst>
                  <a:gd name="T0" fmla="*/ 18521 w 15"/>
                  <a:gd name="T1" fmla="*/ 187325 h 71"/>
                  <a:gd name="T2" fmla="*/ 0 w 15"/>
                  <a:gd name="T3" fmla="*/ 166218 h 71"/>
                  <a:gd name="T4" fmla="*/ 0 w 15"/>
                  <a:gd name="T5" fmla="*/ 21107 h 71"/>
                  <a:gd name="T6" fmla="*/ 18521 w 15"/>
                  <a:gd name="T7" fmla="*/ 0 h 71"/>
                  <a:gd name="T8" fmla="*/ 39688 w 15"/>
                  <a:gd name="T9" fmla="*/ 21107 h 71"/>
                  <a:gd name="T10" fmla="*/ 39688 w 15"/>
                  <a:gd name="T11" fmla="*/ 166218 h 71"/>
                  <a:gd name="T12" fmla="*/ 18521 w 15"/>
                  <a:gd name="T13" fmla="*/ 187325 h 7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5" h="71">
                    <a:moveTo>
                      <a:pt x="7" y="71"/>
                    </a:moveTo>
                    <a:cubicBezTo>
                      <a:pt x="3" y="71"/>
                      <a:pt x="0" y="68"/>
                      <a:pt x="0" y="63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3"/>
                      <a:pt x="3" y="0"/>
                      <a:pt x="7" y="0"/>
                    </a:cubicBezTo>
                    <a:cubicBezTo>
                      <a:pt x="12" y="0"/>
                      <a:pt x="15" y="3"/>
                      <a:pt x="15" y="8"/>
                    </a:cubicBezTo>
                    <a:cubicBezTo>
                      <a:pt x="15" y="63"/>
                      <a:pt x="15" y="63"/>
                      <a:pt x="15" y="63"/>
                    </a:cubicBezTo>
                    <a:cubicBezTo>
                      <a:pt x="15" y="68"/>
                      <a:pt x="12" y="71"/>
                      <a:pt x="7" y="7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p>
                <a:endParaRPr lang="zh-CN" altLang="en-US" sz="2255"/>
              </a:p>
            </p:txBody>
          </p:sp>
        </p:grpSp>
      </p:grpSp>
      <p:sp>
        <p:nvSpPr>
          <p:cNvPr id="175" name="Freeform 11"/>
          <p:cNvSpPr/>
          <p:nvPr/>
        </p:nvSpPr>
        <p:spPr bwMode="auto">
          <a:xfrm>
            <a:off x="6248569" y="915773"/>
            <a:ext cx="2722563" cy="2688775"/>
          </a:xfrm>
          <a:custGeom>
            <a:avLst/>
            <a:gdLst>
              <a:gd name="T0" fmla="*/ 727 w 1715"/>
              <a:gd name="T1" fmla="*/ 1715 h 1715"/>
              <a:gd name="T2" fmla="*/ 1715 w 1715"/>
              <a:gd name="T3" fmla="*/ 1715 h 1715"/>
              <a:gd name="T4" fmla="*/ 1715 w 1715"/>
              <a:gd name="T5" fmla="*/ 727 h 1715"/>
              <a:gd name="T6" fmla="*/ 988 w 1715"/>
              <a:gd name="T7" fmla="*/ 0 h 1715"/>
              <a:gd name="T8" fmla="*/ 0 w 1715"/>
              <a:gd name="T9" fmla="*/ 986 h 1715"/>
              <a:gd name="T10" fmla="*/ 727 w 1715"/>
              <a:gd name="T11" fmla="*/ 1715 h 17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715" h="1715">
                <a:moveTo>
                  <a:pt x="727" y="1715"/>
                </a:moveTo>
                <a:lnTo>
                  <a:pt x="1715" y="1715"/>
                </a:lnTo>
                <a:lnTo>
                  <a:pt x="1715" y="727"/>
                </a:lnTo>
                <a:lnTo>
                  <a:pt x="988" y="0"/>
                </a:lnTo>
                <a:lnTo>
                  <a:pt x="0" y="986"/>
                </a:lnTo>
                <a:lnTo>
                  <a:pt x="727" y="1715"/>
                </a:lnTo>
                <a:close/>
              </a:path>
            </a:pathLst>
          </a:custGeom>
          <a:solidFill>
            <a:schemeClr val="accent3"/>
          </a:solidFill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028" tIns="45514" rIns="91028" bIns="45514" anchor="ctr"/>
          <a:p>
            <a:pPr algn="ctr">
              <a:defRPr/>
            </a:pPr>
            <a:endParaRPr lang="en-US" altLang="zh-CN" sz="2255" dirty="0"/>
          </a:p>
          <a:p>
            <a:pPr algn="ctr">
              <a:defRPr/>
            </a:pPr>
            <a:r>
              <a:rPr lang="en-US" altLang="zh-CN" sz="2255" dirty="0"/>
              <a:t>     P</a:t>
            </a:r>
            <a:r>
              <a:rPr lang="en-US" altLang="zh-CN" sz="2255" dirty="0"/>
              <a:t>ython</a:t>
            </a:r>
            <a:endParaRPr lang="en-US" altLang="zh-CN" sz="2255" dirty="0"/>
          </a:p>
        </p:txBody>
      </p:sp>
      <p:sp>
        <p:nvSpPr>
          <p:cNvPr id="4" name="文本框 3"/>
          <p:cNvSpPr txBox="1"/>
          <p:nvPr/>
        </p:nvSpPr>
        <p:spPr>
          <a:xfrm>
            <a:off x="904875" y="456565"/>
            <a:ext cx="2766060" cy="5581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相关</a:t>
            </a:r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</a:t>
            </a:r>
            <a:endParaRPr lang="zh-CN" altLang="en-US" sz="32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796413" y="457203"/>
            <a:ext cx="0" cy="632244"/>
          </a:xfrm>
          <a:prstGeom prst="line">
            <a:avLst/>
          </a:prstGeom>
          <a:ln w="76200">
            <a:solidFill>
              <a:srgbClr val="1C48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821055" y="1323975"/>
            <a:ext cx="4831080" cy="49650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304800" algn="just">
              <a:lnSpc>
                <a:spcPct val="150000"/>
              </a:lnSpc>
            </a:pPr>
            <a:r>
              <a:rPr lang="zh-CN" altLang="zh-CN" sz="2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本系统设计实现的流程为：数据采集与存储、系统开发、分析与可视化展示。</a:t>
            </a:r>
            <a:endParaRPr lang="zh-CN" altLang="zh-CN" sz="20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304800" algn="just">
              <a:lnSpc>
                <a:spcPct val="150000"/>
              </a:lnSpc>
            </a:pPr>
            <a:r>
              <a:rPr lang="en-US" altLang="zh-CN" sz="2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</a:t>
            </a:r>
            <a:r>
              <a:rPr lang="zh-CN" altLang="zh-CN" sz="2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</a:t>
            </a:r>
            <a:r>
              <a:rPr lang="zh-CN" altLang="zh-CN" sz="20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数据采集与存储</a:t>
            </a:r>
            <a:r>
              <a:rPr lang="zh-CN" altLang="zh-CN" sz="2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我们使用Selenium进行网页自动化获取，并存储到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MySQL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</a:t>
            </a:r>
            <a:endParaRPr lang="zh-CN" altLang="zh-CN" sz="20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304800" algn="just">
              <a:lnSpc>
                <a:spcPct val="150000"/>
              </a:lnSpc>
            </a:pPr>
            <a:r>
              <a:rPr lang="en-US" altLang="zh-CN" sz="2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</a:t>
            </a:r>
            <a:r>
              <a:rPr lang="zh-CN" altLang="zh-CN" sz="2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</a:t>
            </a:r>
            <a:r>
              <a:rPr lang="zh-CN" altLang="zh-CN" sz="20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系统开发</a:t>
            </a:r>
            <a:r>
              <a:rPr lang="zh-CN" altLang="zh-CN" sz="2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</a:t>
            </a:r>
            <a:r>
              <a:rPr lang="zh-CN" altLang="en-US" sz="2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系统</a:t>
            </a:r>
            <a:r>
              <a:rPr lang="zh-CN" altLang="zh-CN" sz="2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后端框架采用</a:t>
            </a:r>
            <a:r>
              <a:rPr lang="en-US" altLang="zh-CN" sz="2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Django</a:t>
            </a:r>
            <a:r>
              <a:rPr lang="zh-CN" altLang="zh-CN" sz="2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，前端采用</a:t>
            </a:r>
            <a:r>
              <a:rPr lang="en-US" altLang="zh-CN" sz="2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Html,CSS</a:t>
            </a:r>
            <a:r>
              <a:rPr lang="zh-CN" altLang="en-US" sz="2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</a:t>
            </a:r>
            <a:r>
              <a:rPr lang="en-US" altLang="zh-CN" sz="2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Layui</a:t>
            </a:r>
            <a:r>
              <a:rPr lang="zh-CN" altLang="zh-CN" sz="2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</a:t>
            </a:r>
            <a:endParaRPr lang="zh-CN" altLang="zh-CN" sz="20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304800" algn="just">
              <a:lnSpc>
                <a:spcPct val="150000"/>
              </a:lnSpc>
            </a:pPr>
            <a:r>
              <a:rPr lang="en-US" altLang="zh-CN" sz="2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</a:t>
            </a:r>
            <a:r>
              <a:rPr lang="zh-CN" altLang="zh-CN" sz="2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</a:t>
            </a:r>
            <a:r>
              <a:rPr lang="zh-CN" altLang="zh-CN" sz="20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分析与可视化展示</a:t>
            </a:r>
            <a:r>
              <a:rPr lang="zh-CN" altLang="zh-CN" sz="2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：针对采集的数据进行数据分析</a:t>
            </a:r>
            <a:r>
              <a:rPr lang="zh-CN" altLang="en-US" sz="20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</a:t>
            </a:r>
            <a:r>
              <a:rPr lang="zh-CN" altLang="zh-CN" sz="2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通过前端</a:t>
            </a:r>
            <a:r>
              <a:rPr lang="zh-CN" altLang="en-US" sz="2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页面</a:t>
            </a:r>
            <a:r>
              <a:rPr lang="zh-CN" altLang="zh-CN" sz="2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展示</a:t>
            </a:r>
            <a:r>
              <a:rPr lang="zh-CN" altLang="en-US" sz="2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分析结果</a:t>
            </a:r>
            <a:r>
              <a:rPr lang="zh-CN" altLang="en-US" sz="2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pSp>
        <p:nvGrpSpPr>
          <p:cNvPr id="204" name="组合 203"/>
          <p:cNvGrpSpPr/>
          <p:nvPr/>
        </p:nvGrpSpPr>
        <p:grpSpPr>
          <a:xfrm>
            <a:off x="7698112" y="2507488"/>
            <a:ext cx="2656205" cy="2299962"/>
            <a:chOff x="5639557" y="1951813"/>
            <a:chExt cx="2118047" cy="1833980"/>
          </a:xfrm>
        </p:grpSpPr>
        <p:sp>
          <p:nvSpPr>
            <p:cNvPr id="205" name="Oval 17"/>
            <p:cNvSpPr>
              <a:spLocks noChangeArrowheads="1"/>
            </p:cNvSpPr>
            <p:nvPr/>
          </p:nvSpPr>
          <p:spPr bwMode="auto">
            <a:xfrm>
              <a:off x="5769817" y="1951813"/>
              <a:ext cx="1857026" cy="1833980"/>
            </a:xfrm>
            <a:prstGeom prst="ellipse">
              <a:avLst/>
            </a:prstGeom>
            <a:gradFill flip="none" rotWithShape="1">
              <a:gsLst>
                <a:gs pos="100000">
                  <a:srgbClr val="FFFFFF">
                    <a:lumMod val="100000"/>
                  </a:srgbClr>
                </a:gs>
                <a:gs pos="0">
                  <a:srgbClr val="D9D9DA"/>
                </a:gs>
              </a:gsLst>
              <a:lin ang="2700000" scaled="1"/>
              <a:tileRect/>
            </a:gradFill>
            <a:ln w="19050">
              <a:gradFill flip="none" rotWithShape="1">
                <a:gsLst>
                  <a:gs pos="100000">
                    <a:srgbClr val="FFFFFF"/>
                  </a:gs>
                  <a:gs pos="0">
                    <a:srgbClr val="D9D9DA"/>
                  </a:gs>
                </a:gsLst>
                <a:lin ang="13500000" scaled="1"/>
                <a:tileRect/>
              </a:gradFill>
            </a:ln>
            <a:effectLst>
              <a:outerShdw blurRad="203200" dist="114300" dir="2700000" algn="tl" rotWithShape="0">
                <a:prstClr val="black">
                  <a:alpha val="32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028" tIns="45514" rIns="91028" bIns="45514" anchor="ctr"/>
            <a:p>
              <a:pPr algn="ctr">
                <a:defRPr/>
              </a:pPr>
              <a:endParaRPr lang="zh-CN" altLang="en-US" sz="2255"/>
            </a:p>
          </p:txBody>
        </p:sp>
        <p:sp>
          <p:nvSpPr>
            <p:cNvPr id="206" name="文本框 205"/>
            <p:cNvSpPr txBox="1"/>
            <p:nvPr/>
          </p:nvSpPr>
          <p:spPr>
            <a:xfrm>
              <a:off x="5639557" y="2686522"/>
              <a:ext cx="2118047" cy="380772"/>
            </a:xfrm>
            <a:prstGeom prst="rect">
              <a:avLst/>
            </a:prstGeom>
            <a:noFill/>
          </p:spPr>
          <p:txBody>
            <a:bodyPr wrap="square" lIns="91028" tIns="45514" rIns="91028" bIns="45514">
              <a:noAutofit/>
            </a:bodyPr>
            <a:p>
              <a:pPr algn="ctr">
                <a:defRPr/>
              </a:pPr>
              <a:r>
                <a:rPr lang="zh-CN" altLang="en-US" sz="2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相关技术</a:t>
              </a:r>
              <a:endParaRPr lang="zh-CN" altLang="en-US" sz="28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sp>
        <p:nvSpPr>
          <p:cNvPr id="210" name="Freeform 79"/>
          <p:cNvSpPr>
            <a:spLocks noEditPoints="1"/>
          </p:cNvSpPr>
          <p:nvPr/>
        </p:nvSpPr>
        <p:spPr bwMode="auto">
          <a:xfrm>
            <a:off x="7447131" y="1520921"/>
            <a:ext cx="725488" cy="446088"/>
          </a:xfrm>
          <a:custGeom>
            <a:avLst/>
            <a:gdLst>
              <a:gd name="T0" fmla="*/ 155 w 457"/>
              <a:gd name="T1" fmla="*/ 281 h 281"/>
              <a:gd name="T2" fmla="*/ 457 w 457"/>
              <a:gd name="T3" fmla="*/ 0 h 281"/>
              <a:gd name="T4" fmla="*/ 143 w 457"/>
              <a:gd name="T5" fmla="*/ 281 h 281"/>
              <a:gd name="T6" fmla="*/ 424 w 457"/>
              <a:gd name="T7" fmla="*/ 0 h 281"/>
              <a:gd name="T8" fmla="*/ 110 w 457"/>
              <a:gd name="T9" fmla="*/ 281 h 281"/>
              <a:gd name="T10" fmla="*/ 391 w 457"/>
              <a:gd name="T11" fmla="*/ 0 h 281"/>
              <a:gd name="T12" fmla="*/ 77 w 457"/>
              <a:gd name="T13" fmla="*/ 281 h 281"/>
              <a:gd name="T14" fmla="*/ 358 w 457"/>
              <a:gd name="T15" fmla="*/ 0 h 281"/>
              <a:gd name="T16" fmla="*/ 41 w 457"/>
              <a:gd name="T17" fmla="*/ 281 h 281"/>
              <a:gd name="T18" fmla="*/ 325 w 457"/>
              <a:gd name="T19" fmla="*/ 0 h 281"/>
              <a:gd name="T20" fmla="*/ 9 w 457"/>
              <a:gd name="T21" fmla="*/ 281 h 281"/>
              <a:gd name="T22" fmla="*/ 272 w 457"/>
              <a:gd name="T23" fmla="*/ 0 h 281"/>
              <a:gd name="T24" fmla="*/ 260 w 457"/>
              <a:gd name="T25" fmla="*/ 0 h 281"/>
              <a:gd name="T26" fmla="*/ 239 w 457"/>
              <a:gd name="T27" fmla="*/ 0 h 281"/>
              <a:gd name="T28" fmla="*/ 227 w 457"/>
              <a:gd name="T29" fmla="*/ 0 h 281"/>
              <a:gd name="T30" fmla="*/ 206 w 457"/>
              <a:gd name="T31" fmla="*/ 0 h 281"/>
              <a:gd name="T32" fmla="*/ 194 w 457"/>
              <a:gd name="T33" fmla="*/ 0 h 281"/>
              <a:gd name="T34" fmla="*/ 173 w 457"/>
              <a:gd name="T35" fmla="*/ 0 h 281"/>
              <a:gd name="T36" fmla="*/ 158 w 457"/>
              <a:gd name="T37" fmla="*/ 0 h 281"/>
              <a:gd name="T38" fmla="*/ 140 w 457"/>
              <a:gd name="T39" fmla="*/ 0 h 281"/>
              <a:gd name="T40" fmla="*/ 125 w 457"/>
              <a:gd name="T41" fmla="*/ 0 h 281"/>
              <a:gd name="T42" fmla="*/ 0 w 457"/>
              <a:gd name="T43" fmla="*/ 126 h 281"/>
              <a:gd name="T44" fmla="*/ 92 w 457"/>
              <a:gd name="T45" fmla="*/ 0 h 281"/>
              <a:gd name="T46" fmla="*/ 0 w 457"/>
              <a:gd name="T47" fmla="*/ 93 h 281"/>
              <a:gd name="T48" fmla="*/ 59 w 457"/>
              <a:gd name="T49" fmla="*/ 0 h 281"/>
              <a:gd name="T50" fmla="*/ 0 w 457"/>
              <a:gd name="T51" fmla="*/ 60 h 281"/>
              <a:gd name="T52" fmla="*/ 27 w 457"/>
              <a:gd name="T53" fmla="*/ 0 h 281"/>
              <a:gd name="T54" fmla="*/ 0 w 457"/>
              <a:gd name="T55" fmla="*/ 24 h 281"/>
              <a:gd name="T56" fmla="*/ 191 w 457"/>
              <a:gd name="T57" fmla="*/ 281 h 281"/>
              <a:gd name="T58" fmla="*/ 209 w 457"/>
              <a:gd name="T59" fmla="*/ 281 h 281"/>
              <a:gd name="T60" fmla="*/ 224 w 457"/>
              <a:gd name="T61" fmla="*/ 281 h 281"/>
              <a:gd name="T62" fmla="*/ 242 w 457"/>
              <a:gd name="T63" fmla="*/ 281 h 281"/>
              <a:gd name="T64" fmla="*/ 257 w 457"/>
              <a:gd name="T65" fmla="*/ 281 h 281"/>
              <a:gd name="T66" fmla="*/ 275 w 457"/>
              <a:gd name="T67" fmla="*/ 281 h 281"/>
              <a:gd name="T68" fmla="*/ 289 w 457"/>
              <a:gd name="T69" fmla="*/ 281 h 281"/>
              <a:gd name="T70" fmla="*/ 307 w 457"/>
              <a:gd name="T71" fmla="*/ 281 h 281"/>
              <a:gd name="T72" fmla="*/ 322 w 457"/>
              <a:gd name="T73" fmla="*/ 281 h 281"/>
              <a:gd name="T74" fmla="*/ 343 w 457"/>
              <a:gd name="T75" fmla="*/ 281 h 281"/>
              <a:gd name="T76" fmla="*/ 355 w 457"/>
              <a:gd name="T77" fmla="*/ 281 h 281"/>
              <a:gd name="T78" fmla="*/ 376 w 457"/>
              <a:gd name="T79" fmla="*/ 281 h 281"/>
              <a:gd name="T80" fmla="*/ 388 w 457"/>
              <a:gd name="T81" fmla="*/ 281 h 281"/>
              <a:gd name="T82" fmla="*/ 409 w 457"/>
              <a:gd name="T83" fmla="*/ 281 h 281"/>
              <a:gd name="T84" fmla="*/ 421 w 457"/>
              <a:gd name="T85" fmla="*/ 281 h 281"/>
              <a:gd name="T86" fmla="*/ 442 w 457"/>
              <a:gd name="T87" fmla="*/ 281 h 281"/>
              <a:gd name="T88" fmla="*/ 454 w 457"/>
              <a:gd name="T89" fmla="*/ 281 h 281"/>
              <a:gd name="T90" fmla="*/ 454 w 457"/>
              <a:gd name="T91" fmla="*/ 281 h 2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457" h="281">
                <a:moveTo>
                  <a:pt x="457" y="0"/>
                </a:moveTo>
                <a:lnTo>
                  <a:pt x="439" y="0"/>
                </a:lnTo>
                <a:lnTo>
                  <a:pt x="155" y="281"/>
                </a:lnTo>
                <a:lnTo>
                  <a:pt x="176" y="281"/>
                </a:lnTo>
                <a:lnTo>
                  <a:pt x="457" y="3"/>
                </a:lnTo>
                <a:lnTo>
                  <a:pt x="457" y="0"/>
                </a:lnTo>
                <a:lnTo>
                  <a:pt x="457" y="0"/>
                </a:lnTo>
                <a:close/>
                <a:moveTo>
                  <a:pt x="424" y="0"/>
                </a:moveTo>
                <a:lnTo>
                  <a:pt x="143" y="281"/>
                </a:lnTo>
                <a:lnTo>
                  <a:pt x="122" y="281"/>
                </a:lnTo>
                <a:lnTo>
                  <a:pt x="406" y="0"/>
                </a:lnTo>
                <a:lnTo>
                  <a:pt x="424" y="0"/>
                </a:lnTo>
                <a:lnTo>
                  <a:pt x="424" y="0"/>
                </a:lnTo>
                <a:close/>
                <a:moveTo>
                  <a:pt x="391" y="0"/>
                </a:moveTo>
                <a:lnTo>
                  <a:pt x="110" y="281"/>
                </a:lnTo>
                <a:lnTo>
                  <a:pt x="89" y="281"/>
                </a:lnTo>
                <a:lnTo>
                  <a:pt x="373" y="0"/>
                </a:lnTo>
                <a:lnTo>
                  <a:pt x="391" y="0"/>
                </a:lnTo>
                <a:lnTo>
                  <a:pt x="391" y="0"/>
                </a:lnTo>
                <a:close/>
                <a:moveTo>
                  <a:pt x="358" y="0"/>
                </a:moveTo>
                <a:lnTo>
                  <a:pt x="77" y="281"/>
                </a:lnTo>
                <a:lnTo>
                  <a:pt x="56" y="281"/>
                </a:lnTo>
                <a:lnTo>
                  <a:pt x="340" y="0"/>
                </a:lnTo>
                <a:lnTo>
                  <a:pt x="358" y="0"/>
                </a:lnTo>
                <a:lnTo>
                  <a:pt x="358" y="0"/>
                </a:lnTo>
                <a:close/>
                <a:moveTo>
                  <a:pt x="325" y="0"/>
                </a:moveTo>
                <a:lnTo>
                  <a:pt x="41" y="281"/>
                </a:lnTo>
                <a:lnTo>
                  <a:pt x="24" y="281"/>
                </a:lnTo>
                <a:lnTo>
                  <a:pt x="307" y="0"/>
                </a:lnTo>
                <a:lnTo>
                  <a:pt x="325" y="0"/>
                </a:lnTo>
                <a:lnTo>
                  <a:pt x="325" y="0"/>
                </a:lnTo>
                <a:close/>
                <a:moveTo>
                  <a:pt x="292" y="0"/>
                </a:moveTo>
                <a:lnTo>
                  <a:pt x="9" y="281"/>
                </a:lnTo>
                <a:lnTo>
                  <a:pt x="0" y="281"/>
                </a:lnTo>
                <a:lnTo>
                  <a:pt x="0" y="272"/>
                </a:lnTo>
                <a:lnTo>
                  <a:pt x="272" y="0"/>
                </a:lnTo>
                <a:lnTo>
                  <a:pt x="292" y="0"/>
                </a:lnTo>
                <a:lnTo>
                  <a:pt x="292" y="0"/>
                </a:lnTo>
                <a:close/>
                <a:moveTo>
                  <a:pt x="260" y="0"/>
                </a:moveTo>
                <a:lnTo>
                  <a:pt x="0" y="257"/>
                </a:lnTo>
                <a:lnTo>
                  <a:pt x="0" y="239"/>
                </a:lnTo>
                <a:lnTo>
                  <a:pt x="239" y="0"/>
                </a:lnTo>
                <a:lnTo>
                  <a:pt x="260" y="0"/>
                </a:lnTo>
                <a:lnTo>
                  <a:pt x="260" y="0"/>
                </a:lnTo>
                <a:close/>
                <a:moveTo>
                  <a:pt x="227" y="0"/>
                </a:moveTo>
                <a:lnTo>
                  <a:pt x="0" y="224"/>
                </a:lnTo>
                <a:lnTo>
                  <a:pt x="0" y="206"/>
                </a:lnTo>
                <a:lnTo>
                  <a:pt x="206" y="0"/>
                </a:lnTo>
                <a:lnTo>
                  <a:pt x="227" y="0"/>
                </a:lnTo>
                <a:lnTo>
                  <a:pt x="227" y="0"/>
                </a:lnTo>
                <a:close/>
                <a:moveTo>
                  <a:pt x="194" y="0"/>
                </a:moveTo>
                <a:lnTo>
                  <a:pt x="0" y="191"/>
                </a:lnTo>
                <a:lnTo>
                  <a:pt x="0" y="171"/>
                </a:lnTo>
                <a:lnTo>
                  <a:pt x="173" y="0"/>
                </a:lnTo>
                <a:lnTo>
                  <a:pt x="194" y="0"/>
                </a:lnTo>
                <a:lnTo>
                  <a:pt x="194" y="0"/>
                </a:lnTo>
                <a:close/>
                <a:moveTo>
                  <a:pt x="158" y="0"/>
                </a:moveTo>
                <a:lnTo>
                  <a:pt x="0" y="159"/>
                </a:lnTo>
                <a:lnTo>
                  <a:pt x="0" y="138"/>
                </a:lnTo>
                <a:lnTo>
                  <a:pt x="140" y="0"/>
                </a:lnTo>
                <a:lnTo>
                  <a:pt x="158" y="0"/>
                </a:lnTo>
                <a:lnTo>
                  <a:pt x="158" y="0"/>
                </a:lnTo>
                <a:close/>
                <a:moveTo>
                  <a:pt x="125" y="0"/>
                </a:moveTo>
                <a:lnTo>
                  <a:pt x="107" y="0"/>
                </a:lnTo>
                <a:lnTo>
                  <a:pt x="0" y="105"/>
                </a:lnTo>
                <a:lnTo>
                  <a:pt x="0" y="126"/>
                </a:lnTo>
                <a:lnTo>
                  <a:pt x="125" y="0"/>
                </a:lnTo>
                <a:lnTo>
                  <a:pt x="125" y="0"/>
                </a:lnTo>
                <a:close/>
                <a:moveTo>
                  <a:pt x="92" y="0"/>
                </a:moveTo>
                <a:lnTo>
                  <a:pt x="74" y="0"/>
                </a:lnTo>
                <a:lnTo>
                  <a:pt x="0" y="72"/>
                </a:lnTo>
                <a:lnTo>
                  <a:pt x="0" y="93"/>
                </a:lnTo>
                <a:lnTo>
                  <a:pt x="92" y="0"/>
                </a:lnTo>
                <a:lnTo>
                  <a:pt x="92" y="0"/>
                </a:lnTo>
                <a:close/>
                <a:moveTo>
                  <a:pt x="59" y="0"/>
                </a:moveTo>
                <a:lnTo>
                  <a:pt x="41" y="0"/>
                </a:lnTo>
                <a:lnTo>
                  <a:pt x="0" y="39"/>
                </a:lnTo>
                <a:lnTo>
                  <a:pt x="0" y="60"/>
                </a:lnTo>
                <a:lnTo>
                  <a:pt x="59" y="0"/>
                </a:lnTo>
                <a:lnTo>
                  <a:pt x="59" y="0"/>
                </a:lnTo>
                <a:close/>
                <a:moveTo>
                  <a:pt x="27" y="0"/>
                </a:moveTo>
                <a:lnTo>
                  <a:pt x="6" y="0"/>
                </a:lnTo>
                <a:lnTo>
                  <a:pt x="0" y="6"/>
                </a:lnTo>
                <a:lnTo>
                  <a:pt x="0" y="24"/>
                </a:lnTo>
                <a:lnTo>
                  <a:pt x="27" y="0"/>
                </a:lnTo>
                <a:lnTo>
                  <a:pt x="27" y="0"/>
                </a:lnTo>
                <a:close/>
                <a:moveTo>
                  <a:pt x="191" y="281"/>
                </a:moveTo>
                <a:lnTo>
                  <a:pt x="457" y="15"/>
                </a:lnTo>
                <a:lnTo>
                  <a:pt x="457" y="36"/>
                </a:lnTo>
                <a:lnTo>
                  <a:pt x="209" y="281"/>
                </a:lnTo>
                <a:lnTo>
                  <a:pt x="191" y="281"/>
                </a:lnTo>
                <a:lnTo>
                  <a:pt x="191" y="281"/>
                </a:lnTo>
                <a:close/>
                <a:moveTo>
                  <a:pt x="224" y="281"/>
                </a:moveTo>
                <a:lnTo>
                  <a:pt x="457" y="48"/>
                </a:lnTo>
                <a:lnTo>
                  <a:pt x="457" y="69"/>
                </a:lnTo>
                <a:lnTo>
                  <a:pt x="242" y="281"/>
                </a:lnTo>
                <a:lnTo>
                  <a:pt x="224" y="281"/>
                </a:lnTo>
                <a:lnTo>
                  <a:pt x="224" y="281"/>
                </a:lnTo>
                <a:close/>
                <a:moveTo>
                  <a:pt x="257" y="281"/>
                </a:moveTo>
                <a:lnTo>
                  <a:pt x="457" y="84"/>
                </a:lnTo>
                <a:lnTo>
                  <a:pt x="457" y="102"/>
                </a:lnTo>
                <a:lnTo>
                  <a:pt x="275" y="281"/>
                </a:lnTo>
                <a:lnTo>
                  <a:pt x="257" y="281"/>
                </a:lnTo>
                <a:lnTo>
                  <a:pt x="257" y="281"/>
                </a:lnTo>
                <a:close/>
                <a:moveTo>
                  <a:pt x="289" y="281"/>
                </a:moveTo>
                <a:lnTo>
                  <a:pt x="457" y="117"/>
                </a:lnTo>
                <a:lnTo>
                  <a:pt x="457" y="135"/>
                </a:lnTo>
                <a:lnTo>
                  <a:pt x="307" y="281"/>
                </a:lnTo>
                <a:lnTo>
                  <a:pt x="289" y="281"/>
                </a:lnTo>
                <a:lnTo>
                  <a:pt x="289" y="281"/>
                </a:lnTo>
                <a:close/>
                <a:moveTo>
                  <a:pt x="322" y="281"/>
                </a:moveTo>
                <a:lnTo>
                  <a:pt x="457" y="150"/>
                </a:lnTo>
                <a:lnTo>
                  <a:pt x="457" y="168"/>
                </a:lnTo>
                <a:lnTo>
                  <a:pt x="343" y="281"/>
                </a:lnTo>
                <a:lnTo>
                  <a:pt x="322" y="281"/>
                </a:lnTo>
                <a:lnTo>
                  <a:pt x="322" y="281"/>
                </a:lnTo>
                <a:close/>
                <a:moveTo>
                  <a:pt x="355" y="281"/>
                </a:moveTo>
                <a:lnTo>
                  <a:pt x="457" y="183"/>
                </a:lnTo>
                <a:lnTo>
                  <a:pt x="457" y="200"/>
                </a:lnTo>
                <a:lnTo>
                  <a:pt x="376" y="281"/>
                </a:lnTo>
                <a:lnTo>
                  <a:pt x="355" y="281"/>
                </a:lnTo>
                <a:lnTo>
                  <a:pt x="355" y="281"/>
                </a:lnTo>
                <a:close/>
                <a:moveTo>
                  <a:pt x="388" y="281"/>
                </a:moveTo>
                <a:lnTo>
                  <a:pt x="457" y="215"/>
                </a:lnTo>
                <a:lnTo>
                  <a:pt x="457" y="236"/>
                </a:lnTo>
                <a:lnTo>
                  <a:pt x="409" y="281"/>
                </a:lnTo>
                <a:lnTo>
                  <a:pt x="388" y="281"/>
                </a:lnTo>
                <a:lnTo>
                  <a:pt x="388" y="281"/>
                </a:lnTo>
                <a:close/>
                <a:moveTo>
                  <a:pt x="421" y="281"/>
                </a:moveTo>
                <a:lnTo>
                  <a:pt x="457" y="248"/>
                </a:lnTo>
                <a:lnTo>
                  <a:pt x="457" y="269"/>
                </a:lnTo>
                <a:lnTo>
                  <a:pt x="442" y="281"/>
                </a:lnTo>
                <a:lnTo>
                  <a:pt x="421" y="281"/>
                </a:lnTo>
                <a:lnTo>
                  <a:pt x="421" y="281"/>
                </a:lnTo>
                <a:close/>
                <a:moveTo>
                  <a:pt x="454" y="281"/>
                </a:moveTo>
                <a:lnTo>
                  <a:pt x="457" y="281"/>
                </a:lnTo>
                <a:lnTo>
                  <a:pt x="457" y="281"/>
                </a:lnTo>
                <a:lnTo>
                  <a:pt x="454" y="281"/>
                </a:lnTo>
                <a:close/>
              </a:path>
            </a:pathLst>
          </a:custGeom>
          <a:solidFill>
            <a:srgbClr val="AFDCF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endParaRPr lang="zh-CN" altLang="en-US"/>
          </a:p>
        </p:txBody>
      </p:sp>
      <p:sp>
        <p:nvSpPr>
          <p:cNvPr id="211" name="Freeform 80"/>
          <p:cNvSpPr>
            <a:spLocks noEditPoints="1"/>
          </p:cNvSpPr>
          <p:nvPr/>
        </p:nvSpPr>
        <p:spPr bwMode="auto">
          <a:xfrm>
            <a:off x="7318543" y="1459009"/>
            <a:ext cx="981075" cy="631825"/>
          </a:xfrm>
          <a:custGeom>
            <a:avLst/>
            <a:gdLst>
              <a:gd name="T0" fmla="*/ 201 w 207"/>
              <a:gd name="T1" fmla="*/ 129 h 133"/>
              <a:gd name="T2" fmla="*/ 203 w 207"/>
              <a:gd name="T3" fmla="*/ 127 h 133"/>
              <a:gd name="T4" fmla="*/ 203 w 207"/>
              <a:gd name="T5" fmla="*/ 121 h 133"/>
              <a:gd name="T6" fmla="*/ 201 w 207"/>
              <a:gd name="T7" fmla="*/ 120 h 133"/>
              <a:gd name="T8" fmla="*/ 16 w 207"/>
              <a:gd name="T9" fmla="*/ 120 h 133"/>
              <a:gd name="T10" fmla="*/ 4 w 207"/>
              <a:gd name="T11" fmla="*/ 121 h 133"/>
              <a:gd name="T12" fmla="*/ 3 w 207"/>
              <a:gd name="T13" fmla="*/ 127 h 133"/>
              <a:gd name="T14" fmla="*/ 4 w 207"/>
              <a:gd name="T15" fmla="*/ 129 h 133"/>
              <a:gd name="T16" fmla="*/ 21 w 207"/>
              <a:gd name="T17" fmla="*/ 0 h 133"/>
              <a:gd name="T18" fmla="*/ 191 w 207"/>
              <a:gd name="T19" fmla="*/ 2 h 133"/>
              <a:gd name="T20" fmla="*/ 191 w 207"/>
              <a:gd name="T21" fmla="*/ 2 h 133"/>
              <a:gd name="T22" fmla="*/ 193 w 207"/>
              <a:gd name="T23" fmla="*/ 116 h 133"/>
              <a:gd name="T24" fmla="*/ 205 w 207"/>
              <a:gd name="T25" fmla="*/ 118 h 133"/>
              <a:gd name="T26" fmla="*/ 207 w 207"/>
              <a:gd name="T27" fmla="*/ 123 h 133"/>
              <a:gd name="T28" fmla="*/ 205 w 207"/>
              <a:gd name="T29" fmla="*/ 131 h 133"/>
              <a:gd name="T30" fmla="*/ 6 w 207"/>
              <a:gd name="T31" fmla="*/ 133 h 133"/>
              <a:gd name="T32" fmla="*/ 2 w 207"/>
              <a:gd name="T33" fmla="*/ 131 h 133"/>
              <a:gd name="T34" fmla="*/ 0 w 207"/>
              <a:gd name="T35" fmla="*/ 127 h 133"/>
              <a:gd name="T36" fmla="*/ 2 w 207"/>
              <a:gd name="T37" fmla="*/ 118 h 133"/>
              <a:gd name="T38" fmla="*/ 6 w 207"/>
              <a:gd name="T39" fmla="*/ 116 h 133"/>
              <a:gd name="T40" fmla="*/ 14 w 207"/>
              <a:gd name="T41" fmla="*/ 7 h 133"/>
              <a:gd name="T42" fmla="*/ 16 w 207"/>
              <a:gd name="T43" fmla="*/ 2 h 133"/>
              <a:gd name="T44" fmla="*/ 186 w 207"/>
              <a:gd name="T45" fmla="*/ 4 h 133"/>
              <a:gd name="T46" fmla="*/ 19 w 207"/>
              <a:gd name="T47" fmla="*/ 5 h 133"/>
              <a:gd name="T48" fmla="*/ 18 w 207"/>
              <a:gd name="T49" fmla="*/ 116 h 133"/>
              <a:gd name="T50" fmla="*/ 189 w 207"/>
              <a:gd name="T51" fmla="*/ 7 h 133"/>
              <a:gd name="T52" fmla="*/ 188 w 207"/>
              <a:gd name="T53" fmla="*/ 5 h 133"/>
              <a:gd name="T54" fmla="*/ 72 w 207"/>
              <a:gd name="T55" fmla="*/ 126 h 133"/>
              <a:gd name="T56" fmla="*/ 72 w 207"/>
              <a:gd name="T57" fmla="*/ 122 h 133"/>
              <a:gd name="T58" fmla="*/ 135 w 207"/>
              <a:gd name="T59" fmla="*/ 124 h 133"/>
              <a:gd name="T60" fmla="*/ 72 w 207"/>
              <a:gd name="T61" fmla="*/ 126 h 133"/>
              <a:gd name="T62" fmla="*/ 24 w 207"/>
              <a:gd name="T63" fmla="*/ 11 h 133"/>
              <a:gd name="T64" fmla="*/ 25 w 207"/>
              <a:gd name="T65" fmla="*/ 111 h 133"/>
              <a:gd name="T66" fmla="*/ 183 w 207"/>
              <a:gd name="T67" fmla="*/ 109 h 133"/>
              <a:gd name="T68" fmla="*/ 181 w 207"/>
              <a:gd name="T69" fmla="*/ 9 h 133"/>
              <a:gd name="T70" fmla="*/ 180 w 207"/>
              <a:gd name="T71" fmla="*/ 13 h 133"/>
              <a:gd name="T72" fmla="*/ 27 w 207"/>
              <a:gd name="T73" fmla="*/ 107 h 133"/>
              <a:gd name="T74" fmla="*/ 180 w 207"/>
              <a:gd name="T75" fmla="*/ 13 h 1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207" h="133">
                <a:moveTo>
                  <a:pt x="6" y="129"/>
                </a:moveTo>
                <a:cubicBezTo>
                  <a:pt x="201" y="129"/>
                  <a:pt x="201" y="129"/>
                  <a:pt x="201" y="129"/>
                </a:cubicBezTo>
                <a:cubicBezTo>
                  <a:pt x="201" y="129"/>
                  <a:pt x="202" y="129"/>
                  <a:pt x="203" y="129"/>
                </a:cubicBezTo>
                <a:cubicBezTo>
                  <a:pt x="203" y="128"/>
                  <a:pt x="203" y="127"/>
                  <a:pt x="203" y="127"/>
                </a:cubicBezTo>
                <a:cubicBezTo>
                  <a:pt x="203" y="123"/>
                  <a:pt x="203" y="123"/>
                  <a:pt x="203" y="123"/>
                </a:cubicBezTo>
                <a:cubicBezTo>
                  <a:pt x="203" y="122"/>
                  <a:pt x="203" y="121"/>
                  <a:pt x="203" y="121"/>
                </a:cubicBezTo>
                <a:cubicBezTo>
                  <a:pt x="203" y="121"/>
                  <a:pt x="203" y="121"/>
                  <a:pt x="203" y="121"/>
                </a:cubicBezTo>
                <a:cubicBezTo>
                  <a:pt x="202" y="120"/>
                  <a:pt x="201" y="120"/>
                  <a:pt x="201" y="120"/>
                </a:cubicBezTo>
                <a:cubicBezTo>
                  <a:pt x="191" y="120"/>
                  <a:pt x="191" y="120"/>
                  <a:pt x="191" y="120"/>
                </a:cubicBezTo>
                <a:cubicBezTo>
                  <a:pt x="16" y="120"/>
                  <a:pt x="16" y="120"/>
                  <a:pt x="16" y="120"/>
                </a:cubicBezTo>
                <a:cubicBezTo>
                  <a:pt x="6" y="120"/>
                  <a:pt x="6" y="120"/>
                  <a:pt x="6" y="120"/>
                </a:cubicBezTo>
                <a:cubicBezTo>
                  <a:pt x="5" y="120"/>
                  <a:pt x="5" y="120"/>
                  <a:pt x="4" y="121"/>
                </a:cubicBezTo>
                <a:cubicBezTo>
                  <a:pt x="4" y="121"/>
                  <a:pt x="3" y="122"/>
                  <a:pt x="3" y="123"/>
                </a:cubicBezTo>
                <a:cubicBezTo>
                  <a:pt x="3" y="127"/>
                  <a:pt x="3" y="127"/>
                  <a:pt x="3" y="127"/>
                </a:cubicBezTo>
                <a:cubicBezTo>
                  <a:pt x="3" y="127"/>
                  <a:pt x="4" y="128"/>
                  <a:pt x="4" y="129"/>
                </a:cubicBezTo>
                <a:cubicBezTo>
                  <a:pt x="4" y="129"/>
                  <a:pt x="4" y="129"/>
                  <a:pt x="4" y="129"/>
                </a:cubicBezTo>
                <a:cubicBezTo>
                  <a:pt x="5" y="129"/>
                  <a:pt x="5" y="129"/>
                  <a:pt x="6" y="129"/>
                </a:cubicBezTo>
                <a:close/>
                <a:moveTo>
                  <a:pt x="21" y="0"/>
                </a:moveTo>
                <a:cubicBezTo>
                  <a:pt x="186" y="0"/>
                  <a:pt x="186" y="0"/>
                  <a:pt x="186" y="0"/>
                </a:cubicBezTo>
                <a:cubicBezTo>
                  <a:pt x="188" y="0"/>
                  <a:pt x="190" y="1"/>
                  <a:pt x="191" y="2"/>
                </a:cubicBezTo>
                <a:cubicBezTo>
                  <a:pt x="191" y="2"/>
                  <a:pt x="191" y="2"/>
                  <a:pt x="191" y="2"/>
                </a:cubicBezTo>
                <a:cubicBezTo>
                  <a:pt x="191" y="2"/>
                  <a:pt x="191" y="2"/>
                  <a:pt x="191" y="2"/>
                </a:cubicBezTo>
                <a:cubicBezTo>
                  <a:pt x="192" y="3"/>
                  <a:pt x="193" y="5"/>
                  <a:pt x="193" y="7"/>
                </a:cubicBezTo>
                <a:cubicBezTo>
                  <a:pt x="193" y="116"/>
                  <a:pt x="193" y="116"/>
                  <a:pt x="193" y="116"/>
                </a:cubicBezTo>
                <a:cubicBezTo>
                  <a:pt x="201" y="116"/>
                  <a:pt x="201" y="116"/>
                  <a:pt x="201" y="116"/>
                </a:cubicBezTo>
                <a:cubicBezTo>
                  <a:pt x="202" y="116"/>
                  <a:pt x="204" y="117"/>
                  <a:pt x="205" y="118"/>
                </a:cubicBezTo>
                <a:cubicBezTo>
                  <a:pt x="205" y="118"/>
                  <a:pt x="205" y="118"/>
                  <a:pt x="205" y="118"/>
                </a:cubicBezTo>
                <a:cubicBezTo>
                  <a:pt x="206" y="119"/>
                  <a:pt x="207" y="121"/>
                  <a:pt x="207" y="123"/>
                </a:cubicBezTo>
                <a:cubicBezTo>
                  <a:pt x="207" y="127"/>
                  <a:pt x="207" y="127"/>
                  <a:pt x="207" y="127"/>
                </a:cubicBezTo>
                <a:cubicBezTo>
                  <a:pt x="207" y="128"/>
                  <a:pt x="206" y="130"/>
                  <a:pt x="205" y="131"/>
                </a:cubicBezTo>
                <a:cubicBezTo>
                  <a:pt x="204" y="132"/>
                  <a:pt x="202" y="133"/>
                  <a:pt x="201" y="133"/>
                </a:cubicBezTo>
                <a:cubicBezTo>
                  <a:pt x="6" y="133"/>
                  <a:pt x="6" y="133"/>
                  <a:pt x="6" y="133"/>
                </a:cubicBezTo>
                <a:cubicBezTo>
                  <a:pt x="4" y="133"/>
                  <a:pt x="3" y="132"/>
                  <a:pt x="2" y="131"/>
                </a:cubicBezTo>
                <a:cubicBezTo>
                  <a:pt x="2" y="131"/>
                  <a:pt x="2" y="131"/>
                  <a:pt x="2" y="131"/>
                </a:cubicBezTo>
                <a:cubicBezTo>
                  <a:pt x="2" y="131"/>
                  <a:pt x="2" y="131"/>
                  <a:pt x="2" y="131"/>
                </a:cubicBezTo>
                <a:cubicBezTo>
                  <a:pt x="0" y="130"/>
                  <a:pt x="0" y="128"/>
                  <a:pt x="0" y="127"/>
                </a:cubicBezTo>
                <a:cubicBezTo>
                  <a:pt x="0" y="123"/>
                  <a:pt x="0" y="123"/>
                  <a:pt x="0" y="123"/>
                </a:cubicBezTo>
                <a:cubicBezTo>
                  <a:pt x="0" y="121"/>
                  <a:pt x="0" y="119"/>
                  <a:pt x="2" y="118"/>
                </a:cubicBezTo>
                <a:cubicBezTo>
                  <a:pt x="2" y="118"/>
                  <a:pt x="2" y="118"/>
                  <a:pt x="2" y="118"/>
                </a:cubicBezTo>
                <a:cubicBezTo>
                  <a:pt x="3" y="117"/>
                  <a:pt x="4" y="116"/>
                  <a:pt x="6" y="116"/>
                </a:cubicBezTo>
                <a:cubicBezTo>
                  <a:pt x="14" y="116"/>
                  <a:pt x="14" y="116"/>
                  <a:pt x="14" y="116"/>
                </a:cubicBezTo>
                <a:cubicBezTo>
                  <a:pt x="14" y="7"/>
                  <a:pt x="14" y="7"/>
                  <a:pt x="14" y="7"/>
                </a:cubicBezTo>
                <a:cubicBezTo>
                  <a:pt x="14" y="5"/>
                  <a:pt x="15" y="3"/>
                  <a:pt x="16" y="2"/>
                </a:cubicBezTo>
                <a:cubicBezTo>
                  <a:pt x="16" y="2"/>
                  <a:pt x="16" y="2"/>
                  <a:pt x="16" y="2"/>
                </a:cubicBezTo>
                <a:cubicBezTo>
                  <a:pt x="17" y="1"/>
                  <a:pt x="19" y="0"/>
                  <a:pt x="21" y="0"/>
                </a:cubicBezTo>
                <a:close/>
                <a:moveTo>
                  <a:pt x="186" y="4"/>
                </a:moveTo>
                <a:cubicBezTo>
                  <a:pt x="21" y="4"/>
                  <a:pt x="21" y="4"/>
                  <a:pt x="21" y="4"/>
                </a:cubicBezTo>
                <a:cubicBezTo>
                  <a:pt x="20" y="4"/>
                  <a:pt x="19" y="4"/>
                  <a:pt x="19" y="5"/>
                </a:cubicBezTo>
                <a:cubicBezTo>
                  <a:pt x="18" y="5"/>
                  <a:pt x="18" y="6"/>
                  <a:pt x="18" y="7"/>
                </a:cubicBezTo>
                <a:cubicBezTo>
                  <a:pt x="18" y="116"/>
                  <a:pt x="18" y="116"/>
                  <a:pt x="18" y="116"/>
                </a:cubicBezTo>
                <a:cubicBezTo>
                  <a:pt x="189" y="116"/>
                  <a:pt x="189" y="116"/>
                  <a:pt x="189" y="116"/>
                </a:cubicBezTo>
                <a:cubicBezTo>
                  <a:pt x="189" y="7"/>
                  <a:pt x="189" y="7"/>
                  <a:pt x="189" y="7"/>
                </a:cubicBezTo>
                <a:cubicBezTo>
                  <a:pt x="189" y="6"/>
                  <a:pt x="189" y="5"/>
                  <a:pt x="188" y="5"/>
                </a:cubicBezTo>
                <a:cubicBezTo>
                  <a:pt x="188" y="5"/>
                  <a:pt x="188" y="5"/>
                  <a:pt x="188" y="5"/>
                </a:cubicBezTo>
                <a:cubicBezTo>
                  <a:pt x="188" y="4"/>
                  <a:pt x="187" y="4"/>
                  <a:pt x="186" y="4"/>
                </a:cubicBezTo>
                <a:close/>
                <a:moveTo>
                  <a:pt x="72" y="126"/>
                </a:moveTo>
                <a:cubicBezTo>
                  <a:pt x="71" y="126"/>
                  <a:pt x="70" y="125"/>
                  <a:pt x="70" y="124"/>
                </a:cubicBezTo>
                <a:cubicBezTo>
                  <a:pt x="70" y="123"/>
                  <a:pt x="71" y="122"/>
                  <a:pt x="72" y="122"/>
                </a:cubicBezTo>
                <a:cubicBezTo>
                  <a:pt x="133" y="122"/>
                  <a:pt x="133" y="122"/>
                  <a:pt x="133" y="122"/>
                </a:cubicBezTo>
                <a:cubicBezTo>
                  <a:pt x="134" y="122"/>
                  <a:pt x="135" y="123"/>
                  <a:pt x="135" y="124"/>
                </a:cubicBezTo>
                <a:cubicBezTo>
                  <a:pt x="135" y="125"/>
                  <a:pt x="134" y="126"/>
                  <a:pt x="133" y="126"/>
                </a:cubicBezTo>
                <a:cubicBezTo>
                  <a:pt x="72" y="126"/>
                  <a:pt x="72" y="126"/>
                  <a:pt x="72" y="126"/>
                </a:cubicBezTo>
                <a:close/>
                <a:moveTo>
                  <a:pt x="25" y="9"/>
                </a:moveTo>
                <a:cubicBezTo>
                  <a:pt x="24" y="9"/>
                  <a:pt x="24" y="10"/>
                  <a:pt x="24" y="11"/>
                </a:cubicBezTo>
                <a:cubicBezTo>
                  <a:pt x="24" y="109"/>
                  <a:pt x="24" y="109"/>
                  <a:pt x="24" y="109"/>
                </a:cubicBezTo>
                <a:cubicBezTo>
                  <a:pt x="24" y="110"/>
                  <a:pt x="24" y="111"/>
                  <a:pt x="25" y="111"/>
                </a:cubicBezTo>
                <a:cubicBezTo>
                  <a:pt x="181" y="111"/>
                  <a:pt x="181" y="111"/>
                  <a:pt x="181" y="111"/>
                </a:cubicBezTo>
                <a:cubicBezTo>
                  <a:pt x="182" y="111"/>
                  <a:pt x="183" y="110"/>
                  <a:pt x="183" y="109"/>
                </a:cubicBezTo>
                <a:cubicBezTo>
                  <a:pt x="183" y="11"/>
                  <a:pt x="183" y="11"/>
                  <a:pt x="183" y="11"/>
                </a:cubicBezTo>
                <a:cubicBezTo>
                  <a:pt x="183" y="10"/>
                  <a:pt x="182" y="9"/>
                  <a:pt x="181" y="9"/>
                </a:cubicBezTo>
                <a:cubicBezTo>
                  <a:pt x="25" y="9"/>
                  <a:pt x="25" y="9"/>
                  <a:pt x="25" y="9"/>
                </a:cubicBezTo>
                <a:close/>
                <a:moveTo>
                  <a:pt x="180" y="13"/>
                </a:moveTo>
                <a:cubicBezTo>
                  <a:pt x="27" y="13"/>
                  <a:pt x="27" y="13"/>
                  <a:pt x="27" y="13"/>
                </a:cubicBezTo>
                <a:cubicBezTo>
                  <a:pt x="27" y="107"/>
                  <a:pt x="27" y="107"/>
                  <a:pt x="27" y="107"/>
                </a:cubicBezTo>
                <a:cubicBezTo>
                  <a:pt x="180" y="107"/>
                  <a:pt x="180" y="107"/>
                  <a:pt x="180" y="107"/>
                </a:cubicBezTo>
                <a:lnTo>
                  <a:pt x="180" y="13"/>
                </a:lnTo>
                <a:close/>
              </a:path>
            </a:pathLst>
          </a:custGeom>
          <a:solidFill>
            <a:srgbClr val="403E3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endParaRPr lang="zh-CN" altLang="en-US"/>
          </a:p>
        </p:txBody>
      </p:sp>
      <p:grpSp>
        <p:nvGrpSpPr>
          <p:cNvPr id="213" name="Group 33"/>
          <p:cNvGrpSpPr>
            <a:grpSpLocks noChangeAspect="1"/>
          </p:cNvGrpSpPr>
          <p:nvPr/>
        </p:nvGrpSpPr>
        <p:grpSpPr bwMode="auto">
          <a:xfrm>
            <a:off x="7259808" y="4163878"/>
            <a:ext cx="879475" cy="857250"/>
            <a:chOff x="3168" y="1424"/>
            <a:chExt cx="554" cy="540"/>
          </a:xfrm>
        </p:grpSpPr>
        <p:sp>
          <p:nvSpPr>
            <p:cNvPr id="214" name="Freeform 34"/>
            <p:cNvSpPr>
              <a:spLocks noEditPoints="1"/>
            </p:cNvSpPr>
            <p:nvPr/>
          </p:nvSpPr>
          <p:spPr bwMode="auto">
            <a:xfrm>
              <a:off x="3236" y="1694"/>
              <a:ext cx="130" cy="196"/>
            </a:xfrm>
            <a:custGeom>
              <a:avLst/>
              <a:gdLst>
                <a:gd name="T0" fmla="*/ 208 w 208"/>
                <a:gd name="T1" fmla="*/ 312 h 312"/>
                <a:gd name="T2" fmla="*/ 208 w 208"/>
                <a:gd name="T3" fmla="*/ 308 h 312"/>
                <a:gd name="T4" fmla="*/ 204 w 208"/>
                <a:gd name="T5" fmla="*/ 312 h 312"/>
                <a:gd name="T6" fmla="*/ 208 w 208"/>
                <a:gd name="T7" fmla="*/ 312 h 312"/>
                <a:gd name="T8" fmla="*/ 208 w 208"/>
                <a:gd name="T9" fmla="*/ 282 h 312"/>
                <a:gd name="T10" fmla="*/ 178 w 208"/>
                <a:gd name="T11" fmla="*/ 312 h 312"/>
                <a:gd name="T12" fmla="*/ 141 w 208"/>
                <a:gd name="T13" fmla="*/ 312 h 312"/>
                <a:gd name="T14" fmla="*/ 208 w 208"/>
                <a:gd name="T15" fmla="*/ 245 h 312"/>
                <a:gd name="T16" fmla="*/ 208 w 208"/>
                <a:gd name="T17" fmla="*/ 282 h 312"/>
                <a:gd name="T18" fmla="*/ 208 w 208"/>
                <a:gd name="T19" fmla="*/ 219 h 312"/>
                <a:gd name="T20" fmla="*/ 115 w 208"/>
                <a:gd name="T21" fmla="*/ 312 h 312"/>
                <a:gd name="T22" fmla="*/ 77 w 208"/>
                <a:gd name="T23" fmla="*/ 312 h 312"/>
                <a:gd name="T24" fmla="*/ 208 w 208"/>
                <a:gd name="T25" fmla="*/ 182 h 312"/>
                <a:gd name="T26" fmla="*/ 208 w 208"/>
                <a:gd name="T27" fmla="*/ 219 h 312"/>
                <a:gd name="T28" fmla="*/ 208 w 208"/>
                <a:gd name="T29" fmla="*/ 155 h 312"/>
                <a:gd name="T30" fmla="*/ 51 w 208"/>
                <a:gd name="T31" fmla="*/ 312 h 312"/>
                <a:gd name="T32" fmla="*/ 14 w 208"/>
                <a:gd name="T33" fmla="*/ 312 h 312"/>
                <a:gd name="T34" fmla="*/ 208 w 208"/>
                <a:gd name="T35" fmla="*/ 118 h 312"/>
                <a:gd name="T36" fmla="*/ 208 w 208"/>
                <a:gd name="T37" fmla="*/ 155 h 312"/>
                <a:gd name="T38" fmla="*/ 208 w 208"/>
                <a:gd name="T39" fmla="*/ 92 h 312"/>
                <a:gd name="T40" fmla="*/ 208 w 208"/>
                <a:gd name="T41" fmla="*/ 55 h 312"/>
                <a:gd name="T42" fmla="*/ 0 w 208"/>
                <a:gd name="T43" fmla="*/ 262 h 312"/>
                <a:gd name="T44" fmla="*/ 0 w 208"/>
                <a:gd name="T45" fmla="*/ 300 h 312"/>
                <a:gd name="T46" fmla="*/ 208 w 208"/>
                <a:gd name="T47" fmla="*/ 92 h 312"/>
                <a:gd name="T48" fmla="*/ 208 w 208"/>
                <a:gd name="T49" fmla="*/ 29 h 312"/>
                <a:gd name="T50" fmla="*/ 208 w 208"/>
                <a:gd name="T51" fmla="*/ 16 h 312"/>
                <a:gd name="T52" fmla="*/ 208 w 208"/>
                <a:gd name="T53" fmla="*/ 16 h 312"/>
                <a:gd name="T54" fmla="*/ 203 w 208"/>
                <a:gd name="T55" fmla="*/ 5 h 312"/>
                <a:gd name="T56" fmla="*/ 203 w 208"/>
                <a:gd name="T57" fmla="*/ 5 h 312"/>
                <a:gd name="T58" fmla="*/ 198 w 208"/>
                <a:gd name="T59" fmla="*/ 1 h 312"/>
                <a:gd name="T60" fmla="*/ 0 w 208"/>
                <a:gd name="T61" fmla="*/ 199 h 312"/>
                <a:gd name="T62" fmla="*/ 0 w 208"/>
                <a:gd name="T63" fmla="*/ 236 h 312"/>
                <a:gd name="T64" fmla="*/ 208 w 208"/>
                <a:gd name="T65" fmla="*/ 29 h 312"/>
                <a:gd name="T66" fmla="*/ 173 w 208"/>
                <a:gd name="T67" fmla="*/ 0 h 312"/>
                <a:gd name="T68" fmla="*/ 135 w 208"/>
                <a:gd name="T69" fmla="*/ 0 h 312"/>
                <a:gd name="T70" fmla="*/ 0 w 208"/>
                <a:gd name="T71" fmla="*/ 136 h 312"/>
                <a:gd name="T72" fmla="*/ 0 w 208"/>
                <a:gd name="T73" fmla="*/ 173 h 312"/>
                <a:gd name="T74" fmla="*/ 173 w 208"/>
                <a:gd name="T75" fmla="*/ 0 h 312"/>
                <a:gd name="T76" fmla="*/ 109 w 208"/>
                <a:gd name="T77" fmla="*/ 0 h 312"/>
                <a:gd name="T78" fmla="*/ 0 w 208"/>
                <a:gd name="T79" fmla="*/ 109 h 312"/>
                <a:gd name="T80" fmla="*/ 0 w 208"/>
                <a:gd name="T81" fmla="*/ 72 h 312"/>
                <a:gd name="T82" fmla="*/ 72 w 208"/>
                <a:gd name="T83" fmla="*/ 0 h 312"/>
                <a:gd name="T84" fmla="*/ 109 w 208"/>
                <a:gd name="T85" fmla="*/ 0 h 312"/>
                <a:gd name="T86" fmla="*/ 46 w 208"/>
                <a:gd name="T87" fmla="*/ 0 h 312"/>
                <a:gd name="T88" fmla="*/ 0 w 208"/>
                <a:gd name="T89" fmla="*/ 46 h 312"/>
                <a:gd name="T90" fmla="*/ 0 w 208"/>
                <a:gd name="T91" fmla="*/ 16 h 312"/>
                <a:gd name="T92" fmla="*/ 5 w 208"/>
                <a:gd name="T93" fmla="*/ 5 h 312"/>
                <a:gd name="T94" fmla="*/ 5 w 208"/>
                <a:gd name="T95" fmla="*/ 5 h 312"/>
                <a:gd name="T96" fmla="*/ 16 w 208"/>
                <a:gd name="T97" fmla="*/ 0 h 312"/>
                <a:gd name="T98" fmla="*/ 46 w 208"/>
                <a:gd name="T9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08" h="312">
                  <a:moveTo>
                    <a:pt x="208" y="312"/>
                  </a:moveTo>
                  <a:cubicBezTo>
                    <a:pt x="208" y="308"/>
                    <a:pt x="208" y="308"/>
                    <a:pt x="208" y="308"/>
                  </a:cubicBezTo>
                  <a:cubicBezTo>
                    <a:pt x="204" y="312"/>
                    <a:pt x="204" y="312"/>
                    <a:pt x="204" y="312"/>
                  </a:cubicBezTo>
                  <a:cubicBezTo>
                    <a:pt x="208" y="312"/>
                    <a:pt x="208" y="312"/>
                    <a:pt x="208" y="312"/>
                  </a:cubicBezTo>
                  <a:close/>
                  <a:moveTo>
                    <a:pt x="208" y="282"/>
                  </a:moveTo>
                  <a:cubicBezTo>
                    <a:pt x="178" y="312"/>
                    <a:pt x="178" y="312"/>
                    <a:pt x="178" y="312"/>
                  </a:cubicBezTo>
                  <a:cubicBezTo>
                    <a:pt x="141" y="312"/>
                    <a:pt x="141" y="312"/>
                    <a:pt x="141" y="312"/>
                  </a:cubicBezTo>
                  <a:cubicBezTo>
                    <a:pt x="208" y="245"/>
                    <a:pt x="208" y="245"/>
                    <a:pt x="208" y="245"/>
                  </a:cubicBezTo>
                  <a:cubicBezTo>
                    <a:pt x="208" y="282"/>
                    <a:pt x="208" y="282"/>
                    <a:pt x="208" y="282"/>
                  </a:cubicBezTo>
                  <a:close/>
                  <a:moveTo>
                    <a:pt x="208" y="219"/>
                  </a:moveTo>
                  <a:cubicBezTo>
                    <a:pt x="115" y="312"/>
                    <a:pt x="115" y="312"/>
                    <a:pt x="115" y="312"/>
                  </a:cubicBezTo>
                  <a:cubicBezTo>
                    <a:pt x="77" y="312"/>
                    <a:pt x="77" y="312"/>
                    <a:pt x="77" y="312"/>
                  </a:cubicBezTo>
                  <a:cubicBezTo>
                    <a:pt x="208" y="182"/>
                    <a:pt x="208" y="182"/>
                    <a:pt x="208" y="182"/>
                  </a:cubicBezTo>
                  <a:cubicBezTo>
                    <a:pt x="208" y="219"/>
                    <a:pt x="208" y="219"/>
                    <a:pt x="208" y="219"/>
                  </a:cubicBezTo>
                  <a:close/>
                  <a:moveTo>
                    <a:pt x="208" y="155"/>
                  </a:moveTo>
                  <a:cubicBezTo>
                    <a:pt x="51" y="312"/>
                    <a:pt x="51" y="312"/>
                    <a:pt x="51" y="312"/>
                  </a:cubicBezTo>
                  <a:cubicBezTo>
                    <a:pt x="14" y="312"/>
                    <a:pt x="14" y="312"/>
                    <a:pt x="14" y="312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8" y="155"/>
                    <a:pt x="208" y="155"/>
                    <a:pt x="208" y="155"/>
                  </a:cubicBezTo>
                  <a:close/>
                  <a:moveTo>
                    <a:pt x="208" y="92"/>
                  </a:moveTo>
                  <a:cubicBezTo>
                    <a:pt x="208" y="55"/>
                    <a:pt x="208" y="55"/>
                    <a:pt x="208" y="55"/>
                  </a:cubicBezTo>
                  <a:cubicBezTo>
                    <a:pt x="0" y="262"/>
                    <a:pt x="0" y="262"/>
                    <a:pt x="0" y="262"/>
                  </a:cubicBezTo>
                  <a:cubicBezTo>
                    <a:pt x="0" y="300"/>
                    <a:pt x="0" y="300"/>
                    <a:pt x="0" y="300"/>
                  </a:cubicBezTo>
                  <a:cubicBezTo>
                    <a:pt x="208" y="92"/>
                    <a:pt x="208" y="92"/>
                    <a:pt x="208" y="92"/>
                  </a:cubicBezTo>
                  <a:close/>
                  <a:moveTo>
                    <a:pt x="208" y="29"/>
                  </a:moveTo>
                  <a:cubicBezTo>
                    <a:pt x="208" y="16"/>
                    <a:pt x="208" y="16"/>
                    <a:pt x="208" y="16"/>
                  </a:cubicBezTo>
                  <a:cubicBezTo>
                    <a:pt x="208" y="16"/>
                    <a:pt x="208" y="16"/>
                    <a:pt x="208" y="16"/>
                  </a:cubicBezTo>
                  <a:cubicBezTo>
                    <a:pt x="208" y="12"/>
                    <a:pt x="206" y="8"/>
                    <a:pt x="203" y="5"/>
                  </a:cubicBezTo>
                  <a:cubicBezTo>
                    <a:pt x="203" y="5"/>
                    <a:pt x="203" y="5"/>
                    <a:pt x="203" y="5"/>
                  </a:cubicBezTo>
                  <a:cubicBezTo>
                    <a:pt x="202" y="3"/>
                    <a:pt x="200" y="2"/>
                    <a:pt x="198" y="1"/>
                  </a:cubicBezTo>
                  <a:cubicBezTo>
                    <a:pt x="0" y="199"/>
                    <a:pt x="0" y="199"/>
                    <a:pt x="0" y="199"/>
                  </a:cubicBezTo>
                  <a:cubicBezTo>
                    <a:pt x="0" y="236"/>
                    <a:pt x="0" y="236"/>
                    <a:pt x="0" y="236"/>
                  </a:cubicBezTo>
                  <a:cubicBezTo>
                    <a:pt x="208" y="29"/>
                    <a:pt x="208" y="29"/>
                    <a:pt x="208" y="29"/>
                  </a:cubicBezTo>
                  <a:close/>
                  <a:moveTo>
                    <a:pt x="173" y="0"/>
                  </a:moveTo>
                  <a:cubicBezTo>
                    <a:pt x="135" y="0"/>
                    <a:pt x="135" y="0"/>
                    <a:pt x="135" y="0"/>
                  </a:cubicBezTo>
                  <a:cubicBezTo>
                    <a:pt x="0" y="136"/>
                    <a:pt x="0" y="136"/>
                    <a:pt x="0" y="136"/>
                  </a:cubicBezTo>
                  <a:cubicBezTo>
                    <a:pt x="0" y="173"/>
                    <a:pt x="0" y="173"/>
                    <a:pt x="0" y="173"/>
                  </a:cubicBezTo>
                  <a:cubicBezTo>
                    <a:pt x="173" y="0"/>
                    <a:pt x="173" y="0"/>
                    <a:pt x="173" y="0"/>
                  </a:cubicBezTo>
                  <a:close/>
                  <a:moveTo>
                    <a:pt x="109" y="0"/>
                  </a:moveTo>
                  <a:cubicBezTo>
                    <a:pt x="0" y="109"/>
                    <a:pt x="0" y="109"/>
                    <a:pt x="0" y="109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72" y="0"/>
                    <a:pt x="72" y="0"/>
                    <a:pt x="72" y="0"/>
                  </a:cubicBezTo>
                  <a:cubicBezTo>
                    <a:pt x="109" y="0"/>
                    <a:pt x="109" y="0"/>
                    <a:pt x="109" y="0"/>
                  </a:cubicBezTo>
                  <a:close/>
                  <a:moveTo>
                    <a:pt x="46" y="0"/>
                  </a:moveTo>
                  <a:cubicBezTo>
                    <a:pt x="0" y="46"/>
                    <a:pt x="0" y="46"/>
                    <a:pt x="0" y="46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12"/>
                    <a:pt x="2" y="8"/>
                    <a:pt x="5" y="5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8" y="2"/>
                    <a:pt x="12" y="0"/>
                    <a:pt x="16" y="0"/>
                  </a:cubicBezTo>
                  <a:lnTo>
                    <a:pt x="46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215" name="Freeform 35"/>
            <p:cNvSpPr>
              <a:spLocks noEditPoints="1"/>
            </p:cNvSpPr>
            <p:nvPr/>
          </p:nvSpPr>
          <p:spPr bwMode="auto">
            <a:xfrm>
              <a:off x="3181" y="1903"/>
              <a:ext cx="528" cy="48"/>
            </a:xfrm>
            <a:custGeom>
              <a:avLst/>
              <a:gdLst>
                <a:gd name="T0" fmla="*/ 488 w 528"/>
                <a:gd name="T1" fmla="*/ 0 h 48"/>
                <a:gd name="T2" fmla="*/ 464 w 528"/>
                <a:gd name="T3" fmla="*/ 48 h 48"/>
                <a:gd name="T4" fmla="*/ 512 w 528"/>
                <a:gd name="T5" fmla="*/ 0 h 48"/>
                <a:gd name="T6" fmla="*/ 424 w 528"/>
                <a:gd name="T7" fmla="*/ 48 h 48"/>
                <a:gd name="T8" fmla="*/ 448 w 528"/>
                <a:gd name="T9" fmla="*/ 0 h 48"/>
                <a:gd name="T10" fmla="*/ 472 w 528"/>
                <a:gd name="T11" fmla="*/ 0 h 48"/>
                <a:gd name="T12" fmla="*/ 409 w 528"/>
                <a:gd name="T13" fmla="*/ 0 h 48"/>
                <a:gd name="T14" fmla="*/ 384 w 528"/>
                <a:gd name="T15" fmla="*/ 48 h 48"/>
                <a:gd name="T16" fmla="*/ 432 w 528"/>
                <a:gd name="T17" fmla="*/ 0 h 48"/>
                <a:gd name="T18" fmla="*/ 345 w 528"/>
                <a:gd name="T19" fmla="*/ 48 h 48"/>
                <a:gd name="T20" fmla="*/ 369 w 528"/>
                <a:gd name="T21" fmla="*/ 0 h 48"/>
                <a:gd name="T22" fmla="*/ 392 w 528"/>
                <a:gd name="T23" fmla="*/ 0 h 48"/>
                <a:gd name="T24" fmla="*/ 335 w 528"/>
                <a:gd name="T25" fmla="*/ 0 h 48"/>
                <a:gd name="T26" fmla="*/ 335 w 528"/>
                <a:gd name="T27" fmla="*/ 0 h 48"/>
                <a:gd name="T28" fmla="*/ 281 w 528"/>
                <a:gd name="T29" fmla="*/ 48 h 48"/>
                <a:gd name="T30" fmla="*/ 352 w 528"/>
                <a:gd name="T31" fmla="*/ 0 h 48"/>
                <a:gd name="T32" fmla="*/ 313 w 528"/>
                <a:gd name="T33" fmla="*/ 0 h 48"/>
                <a:gd name="T34" fmla="*/ 241 w 528"/>
                <a:gd name="T35" fmla="*/ 48 h 48"/>
                <a:gd name="T36" fmla="*/ 313 w 528"/>
                <a:gd name="T37" fmla="*/ 0 h 48"/>
                <a:gd name="T38" fmla="*/ 273 w 528"/>
                <a:gd name="T39" fmla="*/ 0 h 48"/>
                <a:gd name="T40" fmla="*/ 202 w 528"/>
                <a:gd name="T41" fmla="*/ 48 h 48"/>
                <a:gd name="T42" fmla="*/ 273 w 528"/>
                <a:gd name="T43" fmla="*/ 0 h 48"/>
                <a:gd name="T44" fmla="*/ 233 w 528"/>
                <a:gd name="T45" fmla="*/ 0 h 48"/>
                <a:gd name="T46" fmla="*/ 162 w 528"/>
                <a:gd name="T47" fmla="*/ 48 h 48"/>
                <a:gd name="T48" fmla="*/ 233 w 528"/>
                <a:gd name="T49" fmla="*/ 0 h 48"/>
                <a:gd name="T50" fmla="*/ 194 w 528"/>
                <a:gd name="T51" fmla="*/ 0 h 48"/>
                <a:gd name="T52" fmla="*/ 170 w 528"/>
                <a:gd name="T53" fmla="*/ 0 h 48"/>
                <a:gd name="T54" fmla="*/ 145 w 528"/>
                <a:gd name="T55" fmla="*/ 48 h 48"/>
                <a:gd name="T56" fmla="*/ 194 w 528"/>
                <a:gd name="T57" fmla="*/ 0 h 48"/>
                <a:gd name="T58" fmla="*/ 106 w 528"/>
                <a:gd name="T59" fmla="*/ 48 h 48"/>
                <a:gd name="T60" fmla="*/ 130 w 528"/>
                <a:gd name="T61" fmla="*/ 0 h 48"/>
                <a:gd name="T62" fmla="*/ 153 w 528"/>
                <a:gd name="T63" fmla="*/ 0 h 48"/>
                <a:gd name="T64" fmla="*/ 90 w 528"/>
                <a:gd name="T65" fmla="*/ 0 h 48"/>
                <a:gd name="T66" fmla="*/ 66 w 528"/>
                <a:gd name="T67" fmla="*/ 48 h 48"/>
                <a:gd name="T68" fmla="*/ 114 w 528"/>
                <a:gd name="T69" fmla="*/ 0 h 48"/>
                <a:gd name="T70" fmla="*/ 26 w 528"/>
                <a:gd name="T71" fmla="*/ 48 h 48"/>
                <a:gd name="T72" fmla="*/ 51 w 528"/>
                <a:gd name="T73" fmla="*/ 0 h 48"/>
                <a:gd name="T74" fmla="*/ 74 w 528"/>
                <a:gd name="T75" fmla="*/ 0 h 48"/>
                <a:gd name="T76" fmla="*/ 10 w 528"/>
                <a:gd name="T77" fmla="*/ 0 h 48"/>
                <a:gd name="T78" fmla="*/ 0 w 528"/>
                <a:gd name="T79" fmla="*/ 34 h 48"/>
                <a:gd name="T80" fmla="*/ 34 w 528"/>
                <a:gd name="T81" fmla="*/ 0 h 48"/>
                <a:gd name="T82" fmla="*/ 528 w 528"/>
                <a:gd name="T83" fmla="*/ 0 h 48"/>
                <a:gd name="T84" fmla="*/ 503 w 528"/>
                <a:gd name="T85" fmla="*/ 48 h 48"/>
                <a:gd name="T86" fmla="*/ 480 w 528"/>
                <a:gd name="T87" fmla="*/ 48 h 48"/>
                <a:gd name="T88" fmla="*/ 528 w 528"/>
                <a:gd name="T89" fmla="*/ 48 h 48"/>
                <a:gd name="T90" fmla="*/ 520 w 528"/>
                <a:gd name="T91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528" h="48">
                  <a:moveTo>
                    <a:pt x="512" y="0"/>
                  </a:moveTo>
                  <a:lnTo>
                    <a:pt x="488" y="0"/>
                  </a:lnTo>
                  <a:lnTo>
                    <a:pt x="441" y="48"/>
                  </a:lnTo>
                  <a:lnTo>
                    <a:pt x="464" y="48"/>
                  </a:lnTo>
                  <a:lnTo>
                    <a:pt x="512" y="0"/>
                  </a:lnTo>
                  <a:lnTo>
                    <a:pt x="512" y="0"/>
                  </a:lnTo>
                  <a:close/>
                  <a:moveTo>
                    <a:pt x="472" y="0"/>
                  </a:moveTo>
                  <a:lnTo>
                    <a:pt x="424" y="48"/>
                  </a:lnTo>
                  <a:lnTo>
                    <a:pt x="401" y="48"/>
                  </a:lnTo>
                  <a:lnTo>
                    <a:pt x="448" y="0"/>
                  </a:lnTo>
                  <a:lnTo>
                    <a:pt x="472" y="0"/>
                  </a:lnTo>
                  <a:lnTo>
                    <a:pt x="472" y="0"/>
                  </a:lnTo>
                  <a:close/>
                  <a:moveTo>
                    <a:pt x="432" y="0"/>
                  </a:moveTo>
                  <a:lnTo>
                    <a:pt x="409" y="0"/>
                  </a:lnTo>
                  <a:lnTo>
                    <a:pt x="361" y="48"/>
                  </a:lnTo>
                  <a:lnTo>
                    <a:pt x="384" y="48"/>
                  </a:lnTo>
                  <a:lnTo>
                    <a:pt x="432" y="0"/>
                  </a:lnTo>
                  <a:lnTo>
                    <a:pt x="432" y="0"/>
                  </a:lnTo>
                  <a:close/>
                  <a:moveTo>
                    <a:pt x="392" y="0"/>
                  </a:moveTo>
                  <a:lnTo>
                    <a:pt x="345" y="48"/>
                  </a:lnTo>
                  <a:lnTo>
                    <a:pt x="321" y="48"/>
                  </a:lnTo>
                  <a:lnTo>
                    <a:pt x="369" y="0"/>
                  </a:lnTo>
                  <a:lnTo>
                    <a:pt x="392" y="0"/>
                  </a:lnTo>
                  <a:lnTo>
                    <a:pt x="392" y="0"/>
                  </a:lnTo>
                  <a:close/>
                  <a:moveTo>
                    <a:pt x="352" y="0"/>
                  </a:moveTo>
                  <a:lnTo>
                    <a:pt x="335" y="0"/>
                  </a:lnTo>
                  <a:lnTo>
                    <a:pt x="335" y="0"/>
                  </a:lnTo>
                  <a:lnTo>
                    <a:pt x="335" y="0"/>
                  </a:lnTo>
                  <a:lnTo>
                    <a:pt x="329" y="0"/>
                  </a:lnTo>
                  <a:lnTo>
                    <a:pt x="281" y="48"/>
                  </a:lnTo>
                  <a:lnTo>
                    <a:pt x="305" y="48"/>
                  </a:lnTo>
                  <a:lnTo>
                    <a:pt x="352" y="0"/>
                  </a:lnTo>
                  <a:lnTo>
                    <a:pt x="352" y="0"/>
                  </a:lnTo>
                  <a:close/>
                  <a:moveTo>
                    <a:pt x="313" y="0"/>
                  </a:moveTo>
                  <a:lnTo>
                    <a:pt x="265" y="48"/>
                  </a:lnTo>
                  <a:lnTo>
                    <a:pt x="241" y="48"/>
                  </a:lnTo>
                  <a:lnTo>
                    <a:pt x="290" y="0"/>
                  </a:lnTo>
                  <a:lnTo>
                    <a:pt x="313" y="0"/>
                  </a:lnTo>
                  <a:lnTo>
                    <a:pt x="313" y="0"/>
                  </a:lnTo>
                  <a:close/>
                  <a:moveTo>
                    <a:pt x="273" y="0"/>
                  </a:moveTo>
                  <a:lnTo>
                    <a:pt x="249" y="0"/>
                  </a:lnTo>
                  <a:lnTo>
                    <a:pt x="202" y="48"/>
                  </a:lnTo>
                  <a:lnTo>
                    <a:pt x="225" y="48"/>
                  </a:lnTo>
                  <a:lnTo>
                    <a:pt x="273" y="0"/>
                  </a:lnTo>
                  <a:lnTo>
                    <a:pt x="273" y="0"/>
                  </a:lnTo>
                  <a:close/>
                  <a:moveTo>
                    <a:pt x="233" y="0"/>
                  </a:moveTo>
                  <a:lnTo>
                    <a:pt x="185" y="48"/>
                  </a:lnTo>
                  <a:lnTo>
                    <a:pt x="162" y="48"/>
                  </a:lnTo>
                  <a:lnTo>
                    <a:pt x="210" y="0"/>
                  </a:lnTo>
                  <a:lnTo>
                    <a:pt x="233" y="0"/>
                  </a:lnTo>
                  <a:lnTo>
                    <a:pt x="233" y="0"/>
                  </a:lnTo>
                  <a:close/>
                  <a:moveTo>
                    <a:pt x="194" y="0"/>
                  </a:moveTo>
                  <a:lnTo>
                    <a:pt x="192" y="0"/>
                  </a:lnTo>
                  <a:lnTo>
                    <a:pt x="170" y="0"/>
                  </a:lnTo>
                  <a:lnTo>
                    <a:pt x="122" y="48"/>
                  </a:lnTo>
                  <a:lnTo>
                    <a:pt x="145" y="48"/>
                  </a:lnTo>
                  <a:lnTo>
                    <a:pt x="194" y="0"/>
                  </a:lnTo>
                  <a:lnTo>
                    <a:pt x="194" y="0"/>
                  </a:lnTo>
                  <a:close/>
                  <a:moveTo>
                    <a:pt x="153" y="0"/>
                  </a:moveTo>
                  <a:lnTo>
                    <a:pt x="106" y="48"/>
                  </a:lnTo>
                  <a:lnTo>
                    <a:pt x="83" y="48"/>
                  </a:lnTo>
                  <a:lnTo>
                    <a:pt x="130" y="0"/>
                  </a:lnTo>
                  <a:lnTo>
                    <a:pt x="153" y="0"/>
                  </a:lnTo>
                  <a:lnTo>
                    <a:pt x="153" y="0"/>
                  </a:lnTo>
                  <a:close/>
                  <a:moveTo>
                    <a:pt x="114" y="0"/>
                  </a:moveTo>
                  <a:lnTo>
                    <a:pt x="90" y="0"/>
                  </a:lnTo>
                  <a:lnTo>
                    <a:pt x="42" y="48"/>
                  </a:lnTo>
                  <a:lnTo>
                    <a:pt x="66" y="48"/>
                  </a:lnTo>
                  <a:lnTo>
                    <a:pt x="114" y="0"/>
                  </a:lnTo>
                  <a:lnTo>
                    <a:pt x="114" y="0"/>
                  </a:lnTo>
                  <a:close/>
                  <a:moveTo>
                    <a:pt x="74" y="0"/>
                  </a:moveTo>
                  <a:lnTo>
                    <a:pt x="26" y="48"/>
                  </a:lnTo>
                  <a:lnTo>
                    <a:pt x="3" y="48"/>
                  </a:lnTo>
                  <a:lnTo>
                    <a:pt x="51" y="0"/>
                  </a:lnTo>
                  <a:lnTo>
                    <a:pt x="74" y="0"/>
                  </a:lnTo>
                  <a:lnTo>
                    <a:pt x="74" y="0"/>
                  </a:lnTo>
                  <a:close/>
                  <a:moveTo>
                    <a:pt x="34" y="0"/>
                  </a:moveTo>
                  <a:lnTo>
                    <a:pt x="10" y="0"/>
                  </a:lnTo>
                  <a:lnTo>
                    <a:pt x="0" y="10"/>
                  </a:lnTo>
                  <a:lnTo>
                    <a:pt x="0" y="34"/>
                  </a:lnTo>
                  <a:lnTo>
                    <a:pt x="34" y="0"/>
                  </a:lnTo>
                  <a:lnTo>
                    <a:pt x="34" y="0"/>
                  </a:lnTo>
                  <a:close/>
                  <a:moveTo>
                    <a:pt x="480" y="48"/>
                  </a:moveTo>
                  <a:lnTo>
                    <a:pt x="528" y="0"/>
                  </a:lnTo>
                  <a:lnTo>
                    <a:pt x="528" y="24"/>
                  </a:lnTo>
                  <a:lnTo>
                    <a:pt x="503" y="48"/>
                  </a:lnTo>
                  <a:lnTo>
                    <a:pt x="480" y="48"/>
                  </a:lnTo>
                  <a:lnTo>
                    <a:pt x="480" y="48"/>
                  </a:lnTo>
                  <a:close/>
                  <a:moveTo>
                    <a:pt x="520" y="48"/>
                  </a:moveTo>
                  <a:lnTo>
                    <a:pt x="528" y="48"/>
                  </a:lnTo>
                  <a:lnTo>
                    <a:pt x="528" y="40"/>
                  </a:lnTo>
                  <a:lnTo>
                    <a:pt x="520" y="48"/>
                  </a:lnTo>
                  <a:close/>
                </a:path>
              </a:pathLst>
            </a:custGeom>
            <a:solidFill>
              <a:srgbClr val="BFC7C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216" name="Freeform 36"/>
            <p:cNvSpPr>
              <a:spLocks noEditPoints="1"/>
            </p:cNvSpPr>
            <p:nvPr/>
          </p:nvSpPr>
          <p:spPr bwMode="auto">
            <a:xfrm>
              <a:off x="3523" y="1599"/>
              <a:ext cx="131" cy="291"/>
            </a:xfrm>
            <a:custGeom>
              <a:avLst/>
              <a:gdLst>
                <a:gd name="T0" fmla="*/ 0 w 208"/>
                <a:gd name="T1" fmla="*/ 462 h 462"/>
                <a:gd name="T2" fmla="*/ 37 w 208"/>
                <a:gd name="T3" fmla="*/ 462 h 462"/>
                <a:gd name="T4" fmla="*/ 208 w 208"/>
                <a:gd name="T5" fmla="*/ 292 h 462"/>
                <a:gd name="T6" fmla="*/ 208 w 208"/>
                <a:gd name="T7" fmla="*/ 255 h 462"/>
                <a:gd name="T8" fmla="*/ 0 w 208"/>
                <a:gd name="T9" fmla="*/ 462 h 462"/>
                <a:gd name="T10" fmla="*/ 64 w 208"/>
                <a:gd name="T11" fmla="*/ 462 h 462"/>
                <a:gd name="T12" fmla="*/ 208 w 208"/>
                <a:gd name="T13" fmla="*/ 318 h 462"/>
                <a:gd name="T14" fmla="*/ 208 w 208"/>
                <a:gd name="T15" fmla="*/ 355 h 462"/>
                <a:gd name="T16" fmla="*/ 101 w 208"/>
                <a:gd name="T17" fmla="*/ 462 h 462"/>
                <a:gd name="T18" fmla="*/ 64 w 208"/>
                <a:gd name="T19" fmla="*/ 462 h 462"/>
                <a:gd name="T20" fmla="*/ 127 w 208"/>
                <a:gd name="T21" fmla="*/ 462 h 462"/>
                <a:gd name="T22" fmla="*/ 208 w 208"/>
                <a:gd name="T23" fmla="*/ 381 h 462"/>
                <a:gd name="T24" fmla="*/ 208 w 208"/>
                <a:gd name="T25" fmla="*/ 419 h 462"/>
                <a:gd name="T26" fmla="*/ 164 w 208"/>
                <a:gd name="T27" fmla="*/ 462 h 462"/>
                <a:gd name="T28" fmla="*/ 127 w 208"/>
                <a:gd name="T29" fmla="*/ 462 h 462"/>
                <a:gd name="T30" fmla="*/ 190 w 208"/>
                <a:gd name="T31" fmla="*/ 462 h 462"/>
                <a:gd name="T32" fmla="*/ 208 w 208"/>
                <a:gd name="T33" fmla="*/ 445 h 462"/>
                <a:gd name="T34" fmla="*/ 208 w 208"/>
                <a:gd name="T35" fmla="*/ 462 h 462"/>
                <a:gd name="T36" fmla="*/ 190 w 208"/>
                <a:gd name="T37" fmla="*/ 462 h 462"/>
                <a:gd name="T38" fmla="*/ 208 w 208"/>
                <a:gd name="T39" fmla="*/ 228 h 462"/>
                <a:gd name="T40" fmla="*/ 0 w 208"/>
                <a:gd name="T41" fmla="*/ 436 h 462"/>
                <a:gd name="T42" fmla="*/ 0 w 208"/>
                <a:gd name="T43" fmla="*/ 399 h 462"/>
                <a:gd name="T44" fmla="*/ 208 w 208"/>
                <a:gd name="T45" fmla="*/ 191 h 462"/>
                <a:gd name="T46" fmla="*/ 208 w 208"/>
                <a:gd name="T47" fmla="*/ 228 h 462"/>
                <a:gd name="T48" fmla="*/ 208 w 208"/>
                <a:gd name="T49" fmla="*/ 165 h 462"/>
                <a:gd name="T50" fmla="*/ 0 w 208"/>
                <a:gd name="T51" fmla="*/ 373 h 462"/>
                <a:gd name="T52" fmla="*/ 0 w 208"/>
                <a:gd name="T53" fmla="*/ 335 h 462"/>
                <a:gd name="T54" fmla="*/ 208 w 208"/>
                <a:gd name="T55" fmla="*/ 128 h 462"/>
                <a:gd name="T56" fmla="*/ 208 w 208"/>
                <a:gd name="T57" fmla="*/ 165 h 462"/>
                <a:gd name="T58" fmla="*/ 208 w 208"/>
                <a:gd name="T59" fmla="*/ 102 h 462"/>
                <a:gd name="T60" fmla="*/ 0 w 208"/>
                <a:gd name="T61" fmla="*/ 309 h 462"/>
                <a:gd name="T62" fmla="*/ 0 w 208"/>
                <a:gd name="T63" fmla="*/ 272 h 462"/>
                <a:gd name="T64" fmla="*/ 208 w 208"/>
                <a:gd name="T65" fmla="*/ 64 h 462"/>
                <a:gd name="T66" fmla="*/ 208 w 208"/>
                <a:gd name="T67" fmla="*/ 102 h 462"/>
                <a:gd name="T68" fmla="*/ 208 w 208"/>
                <a:gd name="T69" fmla="*/ 38 h 462"/>
                <a:gd name="T70" fmla="*/ 208 w 208"/>
                <a:gd name="T71" fmla="*/ 16 h 462"/>
                <a:gd name="T72" fmla="*/ 204 w 208"/>
                <a:gd name="T73" fmla="*/ 5 h 462"/>
                <a:gd name="T74" fmla="*/ 204 w 208"/>
                <a:gd name="T75" fmla="*/ 5 h 462"/>
                <a:gd name="T76" fmla="*/ 0 w 208"/>
                <a:gd name="T77" fmla="*/ 208 h 462"/>
                <a:gd name="T78" fmla="*/ 0 w 208"/>
                <a:gd name="T79" fmla="*/ 246 h 462"/>
                <a:gd name="T80" fmla="*/ 208 w 208"/>
                <a:gd name="T81" fmla="*/ 38 h 462"/>
                <a:gd name="T82" fmla="*/ 183 w 208"/>
                <a:gd name="T83" fmla="*/ 0 h 462"/>
                <a:gd name="T84" fmla="*/ 145 w 208"/>
                <a:gd name="T85" fmla="*/ 0 h 462"/>
                <a:gd name="T86" fmla="*/ 0 w 208"/>
                <a:gd name="T87" fmla="*/ 145 h 462"/>
                <a:gd name="T88" fmla="*/ 0 w 208"/>
                <a:gd name="T89" fmla="*/ 182 h 462"/>
                <a:gd name="T90" fmla="*/ 183 w 208"/>
                <a:gd name="T91" fmla="*/ 0 h 462"/>
                <a:gd name="T92" fmla="*/ 119 w 208"/>
                <a:gd name="T93" fmla="*/ 0 h 462"/>
                <a:gd name="T94" fmla="*/ 82 w 208"/>
                <a:gd name="T95" fmla="*/ 0 h 462"/>
                <a:gd name="T96" fmla="*/ 0 w 208"/>
                <a:gd name="T97" fmla="*/ 82 h 462"/>
                <a:gd name="T98" fmla="*/ 0 w 208"/>
                <a:gd name="T99" fmla="*/ 119 h 462"/>
                <a:gd name="T100" fmla="*/ 119 w 208"/>
                <a:gd name="T101" fmla="*/ 0 h 462"/>
                <a:gd name="T102" fmla="*/ 56 w 208"/>
                <a:gd name="T103" fmla="*/ 0 h 462"/>
                <a:gd name="T104" fmla="*/ 0 w 208"/>
                <a:gd name="T105" fmla="*/ 56 h 462"/>
                <a:gd name="T106" fmla="*/ 0 w 208"/>
                <a:gd name="T107" fmla="*/ 18 h 462"/>
                <a:gd name="T108" fmla="*/ 18 w 208"/>
                <a:gd name="T109" fmla="*/ 0 h 462"/>
                <a:gd name="T110" fmla="*/ 56 w 208"/>
                <a:gd name="T111" fmla="*/ 0 h 4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8" h="462">
                  <a:moveTo>
                    <a:pt x="0" y="462"/>
                  </a:moveTo>
                  <a:cubicBezTo>
                    <a:pt x="37" y="462"/>
                    <a:pt x="37" y="462"/>
                    <a:pt x="37" y="462"/>
                  </a:cubicBezTo>
                  <a:cubicBezTo>
                    <a:pt x="208" y="292"/>
                    <a:pt x="208" y="292"/>
                    <a:pt x="208" y="292"/>
                  </a:cubicBezTo>
                  <a:cubicBezTo>
                    <a:pt x="208" y="255"/>
                    <a:pt x="208" y="255"/>
                    <a:pt x="208" y="255"/>
                  </a:cubicBezTo>
                  <a:cubicBezTo>
                    <a:pt x="0" y="462"/>
                    <a:pt x="0" y="462"/>
                    <a:pt x="0" y="462"/>
                  </a:cubicBezTo>
                  <a:close/>
                  <a:moveTo>
                    <a:pt x="64" y="462"/>
                  </a:moveTo>
                  <a:cubicBezTo>
                    <a:pt x="208" y="318"/>
                    <a:pt x="208" y="318"/>
                    <a:pt x="208" y="318"/>
                  </a:cubicBezTo>
                  <a:cubicBezTo>
                    <a:pt x="208" y="355"/>
                    <a:pt x="208" y="355"/>
                    <a:pt x="208" y="355"/>
                  </a:cubicBezTo>
                  <a:cubicBezTo>
                    <a:pt x="101" y="462"/>
                    <a:pt x="101" y="462"/>
                    <a:pt x="101" y="462"/>
                  </a:cubicBezTo>
                  <a:cubicBezTo>
                    <a:pt x="64" y="462"/>
                    <a:pt x="64" y="462"/>
                    <a:pt x="64" y="462"/>
                  </a:cubicBezTo>
                  <a:close/>
                  <a:moveTo>
                    <a:pt x="127" y="462"/>
                  </a:moveTo>
                  <a:cubicBezTo>
                    <a:pt x="208" y="381"/>
                    <a:pt x="208" y="381"/>
                    <a:pt x="208" y="381"/>
                  </a:cubicBezTo>
                  <a:cubicBezTo>
                    <a:pt x="208" y="419"/>
                    <a:pt x="208" y="419"/>
                    <a:pt x="208" y="419"/>
                  </a:cubicBezTo>
                  <a:cubicBezTo>
                    <a:pt x="164" y="462"/>
                    <a:pt x="164" y="462"/>
                    <a:pt x="164" y="462"/>
                  </a:cubicBezTo>
                  <a:cubicBezTo>
                    <a:pt x="127" y="462"/>
                    <a:pt x="127" y="462"/>
                    <a:pt x="127" y="462"/>
                  </a:cubicBezTo>
                  <a:close/>
                  <a:moveTo>
                    <a:pt x="190" y="462"/>
                  </a:moveTo>
                  <a:cubicBezTo>
                    <a:pt x="208" y="445"/>
                    <a:pt x="208" y="445"/>
                    <a:pt x="208" y="445"/>
                  </a:cubicBezTo>
                  <a:cubicBezTo>
                    <a:pt x="208" y="462"/>
                    <a:pt x="208" y="462"/>
                    <a:pt x="208" y="462"/>
                  </a:cubicBezTo>
                  <a:cubicBezTo>
                    <a:pt x="190" y="462"/>
                    <a:pt x="190" y="462"/>
                    <a:pt x="190" y="462"/>
                  </a:cubicBezTo>
                  <a:close/>
                  <a:moveTo>
                    <a:pt x="208" y="228"/>
                  </a:moveTo>
                  <a:cubicBezTo>
                    <a:pt x="0" y="436"/>
                    <a:pt x="0" y="436"/>
                    <a:pt x="0" y="436"/>
                  </a:cubicBezTo>
                  <a:cubicBezTo>
                    <a:pt x="0" y="399"/>
                    <a:pt x="0" y="399"/>
                    <a:pt x="0" y="399"/>
                  </a:cubicBezTo>
                  <a:cubicBezTo>
                    <a:pt x="208" y="191"/>
                    <a:pt x="208" y="191"/>
                    <a:pt x="208" y="191"/>
                  </a:cubicBezTo>
                  <a:cubicBezTo>
                    <a:pt x="208" y="228"/>
                    <a:pt x="208" y="228"/>
                    <a:pt x="208" y="228"/>
                  </a:cubicBezTo>
                  <a:close/>
                  <a:moveTo>
                    <a:pt x="208" y="165"/>
                  </a:moveTo>
                  <a:cubicBezTo>
                    <a:pt x="0" y="373"/>
                    <a:pt x="0" y="373"/>
                    <a:pt x="0" y="373"/>
                  </a:cubicBezTo>
                  <a:cubicBezTo>
                    <a:pt x="0" y="335"/>
                    <a:pt x="0" y="335"/>
                    <a:pt x="0" y="335"/>
                  </a:cubicBezTo>
                  <a:cubicBezTo>
                    <a:pt x="208" y="128"/>
                    <a:pt x="208" y="128"/>
                    <a:pt x="208" y="128"/>
                  </a:cubicBezTo>
                  <a:cubicBezTo>
                    <a:pt x="208" y="165"/>
                    <a:pt x="208" y="165"/>
                    <a:pt x="208" y="165"/>
                  </a:cubicBezTo>
                  <a:close/>
                  <a:moveTo>
                    <a:pt x="208" y="102"/>
                  </a:moveTo>
                  <a:cubicBezTo>
                    <a:pt x="0" y="309"/>
                    <a:pt x="0" y="309"/>
                    <a:pt x="0" y="309"/>
                  </a:cubicBezTo>
                  <a:cubicBezTo>
                    <a:pt x="0" y="272"/>
                    <a:pt x="0" y="272"/>
                    <a:pt x="0" y="272"/>
                  </a:cubicBezTo>
                  <a:cubicBezTo>
                    <a:pt x="208" y="64"/>
                    <a:pt x="208" y="64"/>
                    <a:pt x="208" y="64"/>
                  </a:cubicBezTo>
                  <a:cubicBezTo>
                    <a:pt x="208" y="102"/>
                    <a:pt x="208" y="102"/>
                    <a:pt x="208" y="102"/>
                  </a:cubicBezTo>
                  <a:close/>
                  <a:moveTo>
                    <a:pt x="208" y="38"/>
                  </a:moveTo>
                  <a:cubicBezTo>
                    <a:pt x="208" y="16"/>
                    <a:pt x="208" y="16"/>
                    <a:pt x="208" y="16"/>
                  </a:cubicBezTo>
                  <a:cubicBezTo>
                    <a:pt x="208" y="12"/>
                    <a:pt x="206" y="8"/>
                    <a:pt x="204" y="5"/>
                  </a:cubicBezTo>
                  <a:cubicBezTo>
                    <a:pt x="204" y="5"/>
                    <a:pt x="204" y="5"/>
                    <a:pt x="204" y="5"/>
                  </a:cubicBezTo>
                  <a:cubicBezTo>
                    <a:pt x="0" y="208"/>
                    <a:pt x="0" y="208"/>
                    <a:pt x="0" y="208"/>
                  </a:cubicBezTo>
                  <a:cubicBezTo>
                    <a:pt x="0" y="246"/>
                    <a:pt x="0" y="246"/>
                    <a:pt x="0" y="246"/>
                  </a:cubicBezTo>
                  <a:cubicBezTo>
                    <a:pt x="208" y="38"/>
                    <a:pt x="208" y="38"/>
                    <a:pt x="208" y="38"/>
                  </a:cubicBezTo>
                  <a:close/>
                  <a:moveTo>
                    <a:pt x="183" y="0"/>
                  </a:moveTo>
                  <a:cubicBezTo>
                    <a:pt x="145" y="0"/>
                    <a:pt x="145" y="0"/>
                    <a:pt x="145" y="0"/>
                  </a:cubicBezTo>
                  <a:cubicBezTo>
                    <a:pt x="0" y="145"/>
                    <a:pt x="0" y="145"/>
                    <a:pt x="0" y="145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183" y="0"/>
                    <a:pt x="183" y="0"/>
                    <a:pt x="183" y="0"/>
                  </a:cubicBezTo>
                  <a:close/>
                  <a:moveTo>
                    <a:pt x="119" y="0"/>
                  </a:moveTo>
                  <a:cubicBezTo>
                    <a:pt x="82" y="0"/>
                    <a:pt x="82" y="0"/>
                    <a:pt x="82" y="0"/>
                  </a:cubicBezTo>
                  <a:cubicBezTo>
                    <a:pt x="0" y="82"/>
                    <a:pt x="0" y="82"/>
                    <a:pt x="0" y="82"/>
                  </a:cubicBezTo>
                  <a:cubicBezTo>
                    <a:pt x="0" y="119"/>
                    <a:pt x="0" y="119"/>
                    <a:pt x="0" y="119"/>
                  </a:cubicBezTo>
                  <a:cubicBezTo>
                    <a:pt x="119" y="0"/>
                    <a:pt x="119" y="0"/>
                    <a:pt x="119" y="0"/>
                  </a:cubicBezTo>
                  <a:close/>
                  <a:moveTo>
                    <a:pt x="56" y="0"/>
                  </a:moveTo>
                  <a:cubicBezTo>
                    <a:pt x="0" y="56"/>
                    <a:pt x="0" y="56"/>
                    <a:pt x="0" y="56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18" y="0"/>
                    <a:pt x="18" y="0"/>
                    <a:pt x="18" y="0"/>
                  </a:cubicBezTo>
                  <a:lnTo>
                    <a:pt x="56" y="0"/>
                  </a:lnTo>
                  <a:close/>
                </a:path>
              </a:pathLst>
            </a:custGeom>
            <a:solidFill>
              <a:srgbClr val="91A2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217" name="Freeform 37"/>
            <p:cNvSpPr>
              <a:spLocks noEditPoints="1"/>
            </p:cNvSpPr>
            <p:nvPr/>
          </p:nvSpPr>
          <p:spPr bwMode="auto">
            <a:xfrm>
              <a:off x="3380" y="1437"/>
              <a:ext cx="130" cy="453"/>
            </a:xfrm>
            <a:custGeom>
              <a:avLst/>
              <a:gdLst>
                <a:gd name="T0" fmla="*/ 208 w 208"/>
                <a:gd name="T1" fmla="*/ 678 h 720"/>
                <a:gd name="T2" fmla="*/ 203 w 208"/>
                <a:gd name="T3" fmla="*/ 720 h 720"/>
                <a:gd name="T4" fmla="*/ 208 w 208"/>
                <a:gd name="T5" fmla="*/ 652 h 720"/>
                <a:gd name="T6" fmla="*/ 102 w 208"/>
                <a:gd name="T7" fmla="*/ 720 h 720"/>
                <a:gd name="T8" fmla="*/ 208 w 208"/>
                <a:gd name="T9" fmla="*/ 652 h 720"/>
                <a:gd name="T10" fmla="*/ 76 w 208"/>
                <a:gd name="T11" fmla="*/ 720 h 720"/>
                <a:gd name="T12" fmla="*/ 208 w 208"/>
                <a:gd name="T13" fmla="*/ 551 h 720"/>
                <a:gd name="T14" fmla="*/ 208 w 208"/>
                <a:gd name="T15" fmla="*/ 525 h 720"/>
                <a:gd name="T16" fmla="*/ 0 w 208"/>
                <a:gd name="T17" fmla="*/ 720 h 720"/>
                <a:gd name="T18" fmla="*/ 208 w 208"/>
                <a:gd name="T19" fmla="*/ 488 h 720"/>
                <a:gd name="T20" fmla="*/ 208 w 208"/>
                <a:gd name="T21" fmla="*/ 461 h 720"/>
                <a:gd name="T22" fmla="*/ 0 w 208"/>
                <a:gd name="T23" fmla="*/ 632 h 720"/>
                <a:gd name="T24" fmla="*/ 208 w 208"/>
                <a:gd name="T25" fmla="*/ 461 h 720"/>
                <a:gd name="T26" fmla="*/ 208 w 208"/>
                <a:gd name="T27" fmla="*/ 361 h 720"/>
                <a:gd name="T28" fmla="*/ 0 w 208"/>
                <a:gd name="T29" fmla="*/ 606 h 720"/>
                <a:gd name="T30" fmla="*/ 208 w 208"/>
                <a:gd name="T31" fmla="*/ 335 h 720"/>
                <a:gd name="T32" fmla="*/ 0 w 208"/>
                <a:gd name="T33" fmla="*/ 505 h 720"/>
                <a:gd name="T34" fmla="*/ 208 w 208"/>
                <a:gd name="T35" fmla="*/ 335 h 720"/>
                <a:gd name="T36" fmla="*/ 0 w 208"/>
                <a:gd name="T37" fmla="*/ 479 h 720"/>
                <a:gd name="T38" fmla="*/ 208 w 208"/>
                <a:gd name="T39" fmla="*/ 234 h 720"/>
                <a:gd name="T40" fmla="*/ 208 w 208"/>
                <a:gd name="T41" fmla="*/ 208 h 720"/>
                <a:gd name="T42" fmla="*/ 0 w 208"/>
                <a:gd name="T43" fmla="*/ 378 h 720"/>
                <a:gd name="T44" fmla="*/ 208 w 208"/>
                <a:gd name="T45" fmla="*/ 208 h 720"/>
                <a:gd name="T46" fmla="*/ 0 w 208"/>
                <a:gd name="T47" fmla="*/ 352 h 720"/>
                <a:gd name="T48" fmla="*/ 208 w 208"/>
                <a:gd name="T49" fmla="*/ 107 h 720"/>
                <a:gd name="T50" fmla="*/ 208 w 208"/>
                <a:gd name="T51" fmla="*/ 81 h 720"/>
                <a:gd name="T52" fmla="*/ 0 w 208"/>
                <a:gd name="T53" fmla="*/ 251 h 720"/>
                <a:gd name="T54" fmla="*/ 208 w 208"/>
                <a:gd name="T55" fmla="*/ 81 h 720"/>
                <a:gd name="T56" fmla="*/ 208 w 208"/>
                <a:gd name="T57" fmla="*/ 15 h 720"/>
                <a:gd name="T58" fmla="*/ 192 w 208"/>
                <a:gd name="T59" fmla="*/ 0 h 720"/>
                <a:gd name="T60" fmla="*/ 0 w 208"/>
                <a:gd name="T61" fmla="*/ 188 h 720"/>
                <a:gd name="T62" fmla="*/ 208 w 208"/>
                <a:gd name="T63" fmla="*/ 17 h 720"/>
                <a:gd name="T64" fmla="*/ 125 w 208"/>
                <a:gd name="T65" fmla="*/ 0 h 720"/>
                <a:gd name="T66" fmla="*/ 0 w 208"/>
                <a:gd name="T67" fmla="*/ 162 h 720"/>
                <a:gd name="T68" fmla="*/ 99 w 208"/>
                <a:gd name="T69" fmla="*/ 0 h 720"/>
                <a:gd name="T70" fmla="*/ 0 w 208"/>
                <a:gd name="T71" fmla="*/ 61 h 720"/>
                <a:gd name="T72" fmla="*/ 99 w 208"/>
                <a:gd name="T73" fmla="*/ 0 h 720"/>
                <a:gd name="T74" fmla="*/ 0 w 208"/>
                <a:gd name="T75" fmla="*/ 35 h 720"/>
                <a:gd name="T76" fmla="*/ 5 w 208"/>
                <a:gd name="T77" fmla="*/ 4 h 720"/>
                <a:gd name="T78" fmla="*/ 16 w 208"/>
                <a:gd name="T79" fmla="*/ 0 h 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208" h="720">
                  <a:moveTo>
                    <a:pt x="208" y="715"/>
                  </a:moveTo>
                  <a:cubicBezTo>
                    <a:pt x="208" y="678"/>
                    <a:pt x="208" y="678"/>
                    <a:pt x="208" y="678"/>
                  </a:cubicBezTo>
                  <a:cubicBezTo>
                    <a:pt x="166" y="720"/>
                    <a:pt x="166" y="720"/>
                    <a:pt x="166" y="720"/>
                  </a:cubicBezTo>
                  <a:cubicBezTo>
                    <a:pt x="203" y="720"/>
                    <a:pt x="203" y="720"/>
                    <a:pt x="203" y="720"/>
                  </a:cubicBezTo>
                  <a:cubicBezTo>
                    <a:pt x="208" y="715"/>
                    <a:pt x="208" y="715"/>
                    <a:pt x="208" y="715"/>
                  </a:cubicBezTo>
                  <a:close/>
                  <a:moveTo>
                    <a:pt x="208" y="652"/>
                  </a:moveTo>
                  <a:cubicBezTo>
                    <a:pt x="140" y="720"/>
                    <a:pt x="140" y="720"/>
                    <a:pt x="140" y="720"/>
                  </a:cubicBezTo>
                  <a:cubicBezTo>
                    <a:pt x="102" y="720"/>
                    <a:pt x="102" y="720"/>
                    <a:pt x="102" y="720"/>
                  </a:cubicBezTo>
                  <a:cubicBezTo>
                    <a:pt x="208" y="614"/>
                    <a:pt x="208" y="614"/>
                    <a:pt x="208" y="614"/>
                  </a:cubicBezTo>
                  <a:cubicBezTo>
                    <a:pt x="208" y="652"/>
                    <a:pt x="208" y="652"/>
                    <a:pt x="208" y="652"/>
                  </a:cubicBezTo>
                  <a:close/>
                  <a:moveTo>
                    <a:pt x="208" y="588"/>
                  </a:moveTo>
                  <a:cubicBezTo>
                    <a:pt x="76" y="720"/>
                    <a:pt x="76" y="720"/>
                    <a:pt x="76" y="720"/>
                  </a:cubicBezTo>
                  <a:cubicBezTo>
                    <a:pt x="39" y="720"/>
                    <a:pt x="39" y="720"/>
                    <a:pt x="39" y="720"/>
                  </a:cubicBezTo>
                  <a:cubicBezTo>
                    <a:pt x="208" y="551"/>
                    <a:pt x="208" y="551"/>
                    <a:pt x="208" y="551"/>
                  </a:cubicBezTo>
                  <a:cubicBezTo>
                    <a:pt x="208" y="588"/>
                    <a:pt x="208" y="588"/>
                    <a:pt x="208" y="588"/>
                  </a:cubicBezTo>
                  <a:close/>
                  <a:moveTo>
                    <a:pt x="208" y="525"/>
                  </a:moveTo>
                  <a:cubicBezTo>
                    <a:pt x="13" y="720"/>
                    <a:pt x="13" y="720"/>
                    <a:pt x="13" y="720"/>
                  </a:cubicBezTo>
                  <a:cubicBezTo>
                    <a:pt x="0" y="720"/>
                    <a:pt x="0" y="720"/>
                    <a:pt x="0" y="720"/>
                  </a:cubicBezTo>
                  <a:cubicBezTo>
                    <a:pt x="0" y="695"/>
                    <a:pt x="0" y="695"/>
                    <a:pt x="0" y="695"/>
                  </a:cubicBezTo>
                  <a:cubicBezTo>
                    <a:pt x="208" y="488"/>
                    <a:pt x="208" y="488"/>
                    <a:pt x="208" y="488"/>
                  </a:cubicBezTo>
                  <a:cubicBezTo>
                    <a:pt x="208" y="525"/>
                    <a:pt x="208" y="525"/>
                    <a:pt x="208" y="525"/>
                  </a:cubicBezTo>
                  <a:close/>
                  <a:moveTo>
                    <a:pt x="208" y="461"/>
                  </a:moveTo>
                  <a:cubicBezTo>
                    <a:pt x="208" y="424"/>
                    <a:pt x="208" y="424"/>
                    <a:pt x="208" y="424"/>
                  </a:cubicBezTo>
                  <a:cubicBezTo>
                    <a:pt x="0" y="632"/>
                    <a:pt x="0" y="632"/>
                    <a:pt x="0" y="632"/>
                  </a:cubicBezTo>
                  <a:cubicBezTo>
                    <a:pt x="0" y="669"/>
                    <a:pt x="0" y="669"/>
                    <a:pt x="0" y="669"/>
                  </a:cubicBezTo>
                  <a:cubicBezTo>
                    <a:pt x="208" y="461"/>
                    <a:pt x="208" y="461"/>
                    <a:pt x="208" y="461"/>
                  </a:cubicBezTo>
                  <a:close/>
                  <a:moveTo>
                    <a:pt x="208" y="398"/>
                  </a:moveTo>
                  <a:cubicBezTo>
                    <a:pt x="208" y="361"/>
                    <a:pt x="208" y="361"/>
                    <a:pt x="208" y="361"/>
                  </a:cubicBezTo>
                  <a:cubicBezTo>
                    <a:pt x="0" y="568"/>
                    <a:pt x="0" y="568"/>
                    <a:pt x="0" y="568"/>
                  </a:cubicBezTo>
                  <a:cubicBezTo>
                    <a:pt x="0" y="606"/>
                    <a:pt x="0" y="606"/>
                    <a:pt x="0" y="606"/>
                  </a:cubicBezTo>
                  <a:cubicBezTo>
                    <a:pt x="208" y="398"/>
                    <a:pt x="208" y="398"/>
                    <a:pt x="208" y="398"/>
                  </a:cubicBezTo>
                  <a:close/>
                  <a:moveTo>
                    <a:pt x="208" y="335"/>
                  </a:moveTo>
                  <a:cubicBezTo>
                    <a:pt x="208" y="297"/>
                    <a:pt x="208" y="297"/>
                    <a:pt x="208" y="297"/>
                  </a:cubicBezTo>
                  <a:cubicBezTo>
                    <a:pt x="0" y="505"/>
                    <a:pt x="0" y="505"/>
                    <a:pt x="0" y="505"/>
                  </a:cubicBezTo>
                  <a:cubicBezTo>
                    <a:pt x="0" y="542"/>
                    <a:pt x="0" y="542"/>
                    <a:pt x="0" y="542"/>
                  </a:cubicBezTo>
                  <a:cubicBezTo>
                    <a:pt x="208" y="335"/>
                    <a:pt x="208" y="335"/>
                    <a:pt x="208" y="335"/>
                  </a:cubicBezTo>
                  <a:close/>
                  <a:moveTo>
                    <a:pt x="208" y="271"/>
                  </a:moveTo>
                  <a:cubicBezTo>
                    <a:pt x="0" y="479"/>
                    <a:pt x="0" y="479"/>
                    <a:pt x="0" y="479"/>
                  </a:cubicBezTo>
                  <a:cubicBezTo>
                    <a:pt x="0" y="442"/>
                    <a:pt x="0" y="442"/>
                    <a:pt x="0" y="442"/>
                  </a:cubicBezTo>
                  <a:cubicBezTo>
                    <a:pt x="208" y="234"/>
                    <a:pt x="208" y="234"/>
                    <a:pt x="208" y="234"/>
                  </a:cubicBezTo>
                  <a:cubicBezTo>
                    <a:pt x="208" y="271"/>
                    <a:pt x="208" y="271"/>
                    <a:pt x="208" y="271"/>
                  </a:cubicBezTo>
                  <a:close/>
                  <a:moveTo>
                    <a:pt x="208" y="208"/>
                  </a:moveTo>
                  <a:cubicBezTo>
                    <a:pt x="0" y="416"/>
                    <a:pt x="0" y="416"/>
                    <a:pt x="0" y="416"/>
                  </a:cubicBezTo>
                  <a:cubicBezTo>
                    <a:pt x="0" y="378"/>
                    <a:pt x="0" y="378"/>
                    <a:pt x="0" y="378"/>
                  </a:cubicBezTo>
                  <a:cubicBezTo>
                    <a:pt x="208" y="170"/>
                    <a:pt x="208" y="170"/>
                    <a:pt x="208" y="170"/>
                  </a:cubicBezTo>
                  <a:cubicBezTo>
                    <a:pt x="208" y="208"/>
                    <a:pt x="208" y="208"/>
                    <a:pt x="208" y="208"/>
                  </a:cubicBezTo>
                  <a:close/>
                  <a:moveTo>
                    <a:pt x="208" y="144"/>
                  </a:moveTo>
                  <a:cubicBezTo>
                    <a:pt x="0" y="352"/>
                    <a:pt x="0" y="352"/>
                    <a:pt x="0" y="352"/>
                  </a:cubicBezTo>
                  <a:cubicBezTo>
                    <a:pt x="0" y="315"/>
                    <a:pt x="0" y="315"/>
                    <a:pt x="0" y="315"/>
                  </a:cubicBezTo>
                  <a:cubicBezTo>
                    <a:pt x="208" y="107"/>
                    <a:pt x="208" y="107"/>
                    <a:pt x="208" y="107"/>
                  </a:cubicBezTo>
                  <a:cubicBezTo>
                    <a:pt x="208" y="144"/>
                    <a:pt x="208" y="144"/>
                    <a:pt x="208" y="144"/>
                  </a:cubicBezTo>
                  <a:close/>
                  <a:moveTo>
                    <a:pt x="208" y="81"/>
                  </a:moveTo>
                  <a:cubicBezTo>
                    <a:pt x="208" y="43"/>
                    <a:pt x="208" y="43"/>
                    <a:pt x="208" y="43"/>
                  </a:cubicBezTo>
                  <a:cubicBezTo>
                    <a:pt x="0" y="251"/>
                    <a:pt x="0" y="251"/>
                    <a:pt x="0" y="251"/>
                  </a:cubicBezTo>
                  <a:cubicBezTo>
                    <a:pt x="0" y="289"/>
                    <a:pt x="0" y="289"/>
                    <a:pt x="0" y="289"/>
                  </a:cubicBezTo>
                  <a:cubicBezTo>
                    <a:pt x="208" y="81"/>
                    <a:pt x="208" y="81"/>
                    <a:pt x="208" y="81"/>
                  </a:cubicBezTo>
                  <a:close/>
                  <a:moveTo>
                    <a:pt x="208" y="17"/>
                  </a:moveTo>
                  <a:cubicBezTo>
                    <a:pt x="208" y="15"/>
                    <a:pt x="208" y="15"/>
                    <a:pt x="208" y="15"/>
                  </a:cubicBezTo>
                  <a:cubicBezTo>
                    <a:pt x="208" y="11"/>
                    <a:pt x="206" y="7"/>
                    <a:pt x="203" y="4"/>
                  </a:cubicBezTo>
                  <a:cubicBezTo>
                    <a:pt x="200" y="1"/>
                    <a:pt x="196" y="0"/>
                    <a:pt x="192" y="0"/>
                  </a:cubicBezTo>
                  <a:cubicBezTo>
                    <a:pt x="188" y="0"/>
                    <a:pt x="188" y="0"/>
                    <a:pt x="188" y="0"/>
                  </a:cubicBezTo>
                  <a:cubicBezTo>
                    <a:pt x="0" y="188"/>
                    <a:pt x="0" y="188"/>
                    <a:pt x="0" y="188"/>
                  </a:cubicBezTo>
                  <a:cubicBezTo>
                    <a:pt x="0" y="225"/>
                    <a:pt x="0" y="225"/>
                    <a:pt x="0" y="225"/>
                  </a:cubicBezTo>
                  <a:cubicBezTo>
                    <a:pt x="208" y="17"/>
                    <a:pt x="208" y="17"/>
                    <a:pt x="208" y="17"/>
                  </a:cubicBezTo>
                  <a:close/>
                  <a:moveTo>
                    <a:pt x="162" y="0"/>
                  </a:moveTo>
                  <a:cubicBezTo>
                    <a:pt x="125" y="0"/>
                    <a:pt x="125" y="0"/>
                    <a:pt x="125" y="0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62"/>
                    <a:pt x="0" y="162"/>
                    <a:pt x="0" y="162"/>
                  </a:cubicBezTo>
                  <a:cubicBezTo>
                    <a:pt x="162" y="0"/>
                    <a:pt x="162" y="0"/>
                    <a:pt x="162" y="0"/>
                  </a:cubicBezTo>
                  <a:close/>
                  <a:moveTo>
                    <a:pt x="99" y="0"/>
                  </a:moveTo>
                  <a:cubicBezTo>
                    <a:pt x="0" y="98"/>
                    <a:pt x="0" y="98"/>
                    <a:pt x="0" y="98"/>
                  </a:cubicBezTo>
                  <a:cubicBezTo>
                    <a:pt x="0" y="61"/>
                    <a:pt x="0" y="61"/>
                    <a:pt x="0" y="61"/>
                  </a:cubicBezTo>
                  <a:cubicBezTo>
                    <a:pt x="61" y="0"/>
                    <a:pt x="61" y="0"/>
                    <a:pt x="61" y="0"/>
                  </a:cubicBezTo>
                  <a:cubicBezTo>
                    <a:pt x="99" y="0"/>
                    <a:pt x="99" y="0"/>
                    <a:pt x="99" y="0"/>
                  </a:cubicBezTo>
                  <a:close/>
                  <a:moveTo>
                    <a:pt x="35" y="0"/>
                  </a:moveTo>
                  <a:cubicBezTo>
                    <a:pt x="0" y="35"/>
                    <a:pt x="0" y="35"/>
                    <a:pt x="0" y="35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lnTo>
                    <a:pt x="35" y="0"/>
                  </a:lnTo>
                  <a:close/>
                </a:path>
              </a:pathLst>
            </a:custGeom>
            <a:solidFill>
              <a:srgbClr val="F24B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218" name="Freeform 38"/>
            <p:cNvSpPr>
              <a:spLocks noEditPoints="1"/>
            </p:cNvSpPr>
            <p:nvPr/>
          </p:nvSpPr>
          <p:spPr bwMode="auto">
            <a:xfrm>
              <a:off x="3168" y="1424"/>
              <a:ext cx="554" cy="540"/>
            </a:xfrm>
            <a:custGeom>
              <a:avLst/>
              <a:gdLst>
                <a:gd name="T0" fmla="*/ 546 w 884"/>
                <a:gd name="T1" fmla="*/ 295 h 860"/>
                <a:gd name="T2" fmla="*/ 541 w 884"/>
                <a:gd name="T3" fmla="*/ 25 h 860"/>
                <a:gd name="T4" fmla="*/ 354 w 884"/>
                <a:gd name="T5" fmla="*/ 21 h 860"/>
                <a:gd name="T6" fmla="*/ 343 w 884"/>
                <a:gd name="T7" fmla="*/ 25 h 860"/>
                <a:gd name="T8" fmla="*/ 338 w 884"/>
                <a:gd name="T9" fmla="*/ 445 h 860"/>
                <a:gd name="T10" fmla="*/ 546 w 884"/>
                <a:gd name="T11" fmla="*/ 741 h 860"/>
                <a:gd name="T12" fmla="*/ 88 w 884"/>
                <a:gd name="T13" fmla="*/ 741 h 860"/>
                <a:gd name="T14" fmla="*/ 99 w 884"/>
                <a:gd name="T15" fmla="*/ 419 h 860"/>
                <a:gd name="T16" fmla="*/ 99 w 884"/>
                <a:gd name="T17" fmla="*/ 419 h 860"/>
                <a:gd name="T18" fmla="*/ 301 w 884"/>
                <a:gd name="T19" fmla="*/ 408 h 860"/>
                <a:gd name="T20" fmla="*/ 317 w 884"/>
                <a:gd name="T21" fmla="*/ 36 h 860"/>
                <a:gd name="T22" fmla="*/ 328 w 884"/>
                <a:gd name="T23" fmla="*/ 10 h 860"/>
                <a:gd name="T24" fmla="*/ 354 w 884"/>
                <a:gd name="T25" fmla="*/ 0 h 860"/>
                <a:gd name="T26" fmla="*/ 556 w 884"/>
                <a:gd name="T27" fmla="*/ 10 h 860"/>
                <a:gd name="T28" fmla="*/ 567 w 884"/>
                <a:gd name="T29" fmla="*/ 261 h 860"/>
                <a:gd name="T30" fmla="*/ 759 w 884"/>
                <a:gd name="T31" fmla="*/ 258 h 860"/>
                <a:gd name="T32" fmla="*/ 786 w 884"/>
                <a:gd name="T33" fmla="*/ 269 h 860"/>
                <a:gd name="T34" fmla="*/ 796 w 884"/>
                <a:gd name="T35" fmla="*/ 741 h 860"/>
                <a:gd name="T36" fmla="*/ 884 w 884"/>
                <a:gd name="T37" fmla="*/ 752 h 860"/>
                <a:gd name="T38" fmla="*/ 873 w 884"/>
                <a:gd name="T39" fmla="*/ 860 h 860"/>
                <a:gd name="T40" fmla="*/ 0 w 884"/>
                <a:gd name="T41" fmla="*/ 849 h 860"/>
                <a:gd name="T42" fmla="*/ 11 w 884"/>
                <a:gd name="T43" fmla="*/ 741 h 860"/>
                <a:gd name="T44" fmla="*/ 775 w 884"/>
                <a:gd name="T45" fmla="*/ 741 h 860"/>
                <a:gd name="T46" fmla="*/ 771 w 884"/>
                <a:gd name="T47" fmla="*/ 284 h 860"/>
                <a:gd name="T48" fmla="*/ 759 w 884"/>
                <a:gd name="T49" fmla="*/ 279 h 860"/>
                <a:gd name="T50" fmla="*/ 572 w 884"/>
                <a:gd name="T51" fmla="*/ 284 h 860"/>
                <a:gd name="T52" fmla="*/ 567 w 884"/>
                <a:gd name="T53" fmla="*/ 295 h 860"/>
                <a:gd name="T54" fmla="*/ 863 w 884"/>
                <a:gd name="T55" fmla="*/ 762 h 860"/>
                <a:gd name="T56" fmla="*/ 785 w 884"/>
                <a:gd name="T57" fmla="*/ 762 h 860"/>
                <a:gd name="T58" fmla="*/ 556 w 884"/>
                <a:gd name="T59" fmla="*/ 762 h 860"/>
                <a:gd name="T60" fmla="*/ 328 w 884"/>
                <a:gd name="T61" fmla="*/ 762 h 860"/>
                <a:gd name="T62" fmla="*/ 22 w 884"/>
                <a:gd name="T63" fmla="*/ 762 h 860"/>
                <a:gd name="T64" fmla="*/ 863 w 884"/>
                <a:gd name="T65" fmla="*/ 839 h 860"/>
                <a:gd name="T66" fmla="*/ 317 w 884"/>
                <a:gd name="T67" fmla="*/ 741 h 860"/>
                <a:gd name="T68" fmla="*/ 317 w 884"/>
                <a:gd name="T69" fmla="*/ 445 h 860"/>
                <a:gd name="T70" fmla="*/ 312 w 884"/>
                <a:gd name="T71" fmla="*/ 434 h 860"/>
                <a:gd name="T72" fmla="*/ 125 w 884"/>
                <a:gd name="T73" fmla="*/ 429 h 860"/>
                <a:gd name="T74" fmla="*/ 114 w 884"/>
                <a:gd name="T75" fmla="*/ 434 h 860"/>
                <a:gd name="T76" fmla="*/ 109 w 884"/>
                <a:gd name="T77" fmla="*/ 741 h 8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884" h="860">
                  <a:moveTo>
                    <a:pt x="546" y="741"/>
                  </a:moveTo>
                  <a:cubicBezTo>
                    <a:pt x="546" y="295"/>
                    <a:pt x="546" y="295"/>
                    <a:pt x="546" y="295"/>
                  </a:cubicBezTo>
                  <a:cubicBezTo>
                    <a:pt x="546" y="36"/>
                    <a:pt x="546" y="36"/>
                    <a:pt x="546" y="36"/>
                  </a:cubicBezTo>
                  <a:cubicBezTo>
                    <a:pt x="546" y="32"/>
                    <a:pt x="544" y="28"/>
                    <a:pt x="541" y="25"/>
                  </a:cubicBezTo>
                  <a:cubicBezTo>
                    <a:pt x="538" y="22"/>
                    <a:pt x="534" y="21"/>
                    <a:pt x="530" y="21"/>
                  </a:cubicBezTo>
                  <a:cubicBezTo>
                    <a:pt x="354" y="21"/>
                    <a:pt x="354" y="21"/>
                    <a:pt x="354" y="21"/>
                  </a:cubicBezTo>
                  <a:cubicBezTo>
                    <a:pt x="350" y="21"/>
                    <a:pt x="346" y="22"/>
                    <a:pt x="343" y="25"/>
                  </a:cubicBezTo>
                  <a:cubicBezTo>
                    <a:pt x="343" y="25"/>
                    <a:pt x="343" y="25"/>
                    <a:pt x="343" y="25"/>
                  </a:cubicBezTo>
                  <a:cubicBezTo>
                    <a:pt x="340" y="28"/>
                    <a:pt x="338" y="32"/>
                    <a:pt x="338" y="36"/>
                  </a:cubicBezTo>
                  <a:cubicBezTo>
                    <a:pt x="338" y="445"/>
                    <a:pt x="338" y="445"/>
                    <a:pt x="338" y="445"/>
                  </a:cubicBezTo>
                  <a:cubicBezTo>
                    <a:pt x="338" y="741"/>
                    <a:pt x="338" y="741"/>
                    <a:pt x="338" y="741"/>
                  </a:cubicBezTo>
                  <a:cubicBezTo>
                    <a:pt x="546" y="741"/>
                    <a:pt x="546" y="741"/>
                    <a:pt x="546" y="741"/>
                  </a:cubicBezTo>
                  <a:close/>
                  <a:moveTo>
                    <a:pt x="11" y="741"/>
                  </a:moveTo>
                  <a:cubicBezTo>
                    <a:pt x="88" y="741"/>
                    <a:pt x="88" y="741"/>
                    <a:pt x="88" y="741"/>
                  </a:cubicBezTo>
                  <a:cubicBezTo>
                    <a:pt x="88" y="445"/>
                    <a:pt x="88" y="445"/>
                    <a:pt x="88" y="445"/>
                  </a:cubicBezTo>
                  <a:cubicBezTo>
                    <a:pt x="88" y="435"/>
                    <a:pt x="92" y="426"/>
                    <a:pt x="99" y="419"/>
                  </a:cubicBezTo>
                  <a:cubicBezTo>
                    <a:pt x="99" y="419"/>
                    <a:pt x="99" y="419"/>
                    <a:pt x="99" y="419"/>
                  </a:cubicBezTo>
                  <a:cubicBezTo>
                    <a:pt x="99" y="419"/>
                    <a:pt x="99" y="419"/>
                    <a:pt x="99" y="419"/>
                  </a:cubicBezTo>
                  <a:cubicBezTo>
                    <a:pt x="106" y="412"/>
                    <a:pt x="115" y="408"/>
                    <a:pt x="125" y="408"/>
                  </a:cubicBezTo>
                  <a:cubicBezTo>
                    <a:pt x="301" y="408"/>
                    <a:pt x="301" y="408"/>
                    <a:pt x="301" y="408"/>
                  </a:cubicBezTo>
                  <a:cubicBezTo>
                    <a:pt x="307" y="408"/>
                    <a:pt x="312" y="410"/>
                    <a:pt x="317" y="412"/>
                  </a:cubicBezTo>
                  <a:cubicBezTo>
                    <a:pt x="317" y="36"/>
                    <a:pt x="317" y="36"/>
                    <a:pt x="317" y="36"/>
                  </a:cubicBezTo>
                  <a:cubicBezTo>
                    <a:pt x="317" y="26"/>
                    <a:pt x="321" y="17"/>
                    <a:pt x="328" y="10"/>
                  </a:cubicBezTo>
                  <a:cubicBezTo>
                    <a:pt x="328" y="10"/>
                    <a:pt x="328" y="10"/>
                    <a:pt x="328" y="10"/>
                  </a:cubicBezTo>
                  <a:cubicBezTo>
                    <a:pt x="328" y="10"/>
                    <a:pt x="328" y="10"/>
                    <a:pt x="328" y="10"/>
                  </a:cubicBezTo>
                  <a:cubicBezTo>
                    <a:pt x="335" y="4"/>
                    <a:pt x="344" y="0"/>
                    <a:pt x="354" y="0"/>
                  </a:cubicBezTo>
                  <a:cubicBezTo>
                    <a:pt x="530" y="0"/>
                    <a:pt x="530" y="0"/>
                    <a:pt x="530" y="0"/>
                  </a:cubicBezTo>
                  <a:cubicBezTo>
                    <a:pt x="540" y="0"/>
                    <a:pt x="550" y="4"/>
                    <a:pt x="556" y="10"/>
                  </a:cubicBezTo>
                  <a:cubicBezTo>
                    <a:pt x="563" y="17"/>
                    <a:pt x="567" y="26"/>
                    <a:pt x="567" y="36"/>
                  </a:cubicBezTo>
                  <a:cubicBezTo>
                    <a:pt x="567" y="261"/>
                    <a:pt x="567" y="261"/>
                    <a:pt x="567" y="261"/>
                  </a:cubicBezTo>
                  <a:cubicBezTo>
                    <a:pt x="572" y="259"/>
                    <a:pt x="577" y="258"/>
                    <a:pt x="583" y="258"/>
                  </a:cubicBezTo>
                  <a:cubicBezTo>
                    <a:pt x="759" y="258"/>
                    <a:pt x="759" y="258"/>
                    <a:pt x="759" y="258"/>
                  </a:cubicBezTo>
                  <a:cubicBezTo>
                    <a:pt x="769" y="258"/>
                    <a:pt x="778" y="262"/>
                    <a:pt x="785" y="269"/>
                  </a:cubicBezTo>
                  <a:cubicBezTo>
                    <a:pt x="785" y="269"/>
                    <a:pt x="786" y="269"/>
                    <a:pt x="786" y="269"/>
                  </a:cubicBezTo>
                  <a:cubicBezTo>
                    <a:pt x="792" y="276"/>
                    <a:pt x="796" y="285"/>
                    <a:pt x="796" y="295"/>
                  </a:cubicBezTo>
                  <a:cubicBezTo>
                    <a:pt x="796" y="741"/>
                    <a:pt x="796" y="741"/>
                    <a:pt x="796" y="741"/>
                  </a:cubicBezTo>
                  <a:cubicBezTo>
                    <a:pt x="873" y="741"/>
                    <a:pt x="873" y="741"/>
                    <a:pt x="873" y="741"/>
                  </a:cubicBezTo>
                  <a:cubicBezTo>
                    <a:pt x="879" y="741"/>
                    <a:pt x="884" y="746"/>
                    <a:pt x="884" y="752"/>
                  </a:cubicBezTo>
                  <a:cubicBezTo>
                    <a:pt x="884" y="849"/>
                    <a:pt x="884" y="849"/>
                    <a:pt x="884" y="849"/>
                  </a:cubicBezTo>
                  <a:cubicBezTo>
                    <a:pt x="884" y="855"/>
                    <a:pt x="879" y="860"/>
                    <a:pt x="873" y="860"/>
                  </a:cubicBezTo>
                  <a:cubicBezTo>
                    <a:pt x="11" y="860"/>
                    <a:pt x="11" y="860"/>
                    <a:pt x="11" y="860"/>
                  </a:cubicBezTo>
                  <a:cubicBezTo>
                    <a:pt x="5" y="860"/>
                    <a:pt x="0" y="855"/>
                    <a:pt x="0" y="849"/>
                  </a:cubicBezTo>
                  <a:cubicBezTo>
                    <a:pt x="0" y="752"/>
                    <a:pt x="0" y="752"/>
                    <a:pt x="0" y="752"/>
                  </a:cubicBezTo>
                  <a:cubicBezTo>
                    <a:pt x="0" y="746"/>
                    <a:pt x="5" y="741"/>
                    <a:pt x="11" y="741"/>
                  </a:cubicBezTo>
                  <a:close/>
                  <a:moveTo>
                    <a:pt x="567" y="741"/>
                  </a:moveTo>
                  <a:cubicBezTo>
                    <a:pt x="775" y="741"/>
                    <a:pt x="775" y="741"/>
                    <a:pt x="775" y="741"/>
                  </a:cubicBezTo>
                  <a:cubicBezTo>
                    <a:pt x="775" y="295"/>
                    <a:pt x="775" y="295"/>
                    <a:pt x="775" y="295"/>
                  </a:cubicBezTo>
                  <a:cubicBezTo>
                    <a:pt x="775" y="291"/>
                    <a:pt x="773" y="287"/>
                    <a:pt x="771" y="284"/>
                  </a:cubicBezTo>
                  <a:cubicBezTo>
                    <a:pt x="770" y="284"/>
                    <a:pt x="770" y="284"/>
                    <a:pt x="770" y="284"/>
                  </a:cubicBezTo>
                  <a:cubicBezTo>
                    <a:pt x="767" y="281"/>
                    <a:pt x="763" y="279"/>
                    <a:pt x="759" y="279"/>
                  </a:cubicBezTo>
                  <a:cubicBezTo>
                    <a:pt x="583" y="279"/>
                    <a:pt x="583" y="279"/>
                    <a:pt x="583" y="279"/>
                  </a:cubicBezTo>
                  <a:cubicBezTo>
                    <a:pt x="578" y="279"/>
                    <a:pt x="575" y="281"/>
                    <a:pt x="572" y="284"/>
                  </a:cubicBezTo>
                  <a:cubicBezTo>
                    <a:pt x="569" y="286"/>
                    <a:pt x="567" y="290"/>
                    <a:pt x="567" y="295"/>
                  </a:cubicBezTo>
                  <a:cubicBezTo>
                    <a:pt x="567" y="295"/>
                    <a:pt x="567" y="295"/>
                    <a:pt x="567" y="295"/>
                  </a:cubicBezTo>
                  <a:cubicBezTo>
                    <a:pt x="567" y="741"/>
                    <a:pt x="567" y="741"/>
                    <a:pt x="567" y="741"/>
                  </a:cubicBezTo>
                  <a:close/>
                  <a:moveTo>
                    <a:pt x="863" y="762"/>
                  </a:moveTo>
                  <a:cubicBezTo>
                    <a:pt x="786" y="762"/>
                    <a:pt x="786" y="762"/>
                    <a:pt x="786" y="762"/>
                  </a:cubicBezTo>
                  <a:cubicBezTo>
                    <a:pt x="785" y="762"/>
                    <a:pt x="785" y="762"/>
                    <a:pt x="785" y="762"/>
                  </a:cubicBezTo>
                  <a:cubicBezTo>
                    <a:pt x="556" y="762"/>
                    <a:pt x="556" y="762"/>
                    <a:pt x="556" y="762"/>
                  </a:cubicBezTo>
                  <a:cubicBezTo>
                    <a:pt x="556" y="762"/>
                    <a:pt x="556" y="762"/>
                    <a:pt x="556" y="762"/>
                  </a:cubicBezTo>
                  <a:cubicBezTo>
                    <a:pt x="556" y="762"/>
                    <a:pt x="556" y="762"/>
                    <a:pt x="556" y="762"/>
                  </a:cubicBezTo>
                  <a:cubicBezTo>
                    <a:pt x="328" y="762"/>
                    <a:pt x="328" y="762"/>
                    <a:pt x="328" y="762"/>
                  </a:cubicBezTo>
                  <a:cubicBezTo>
                    <a:pt x="99" y="762"/>
                    <a:pt x="99" y="762"/>
                    <a:pt x="99" y="762"/>
                  </a:cubicBezTo>
                  <a:cubicBezTo>
                    <a:pt x="22" y="762"/>
                    <a:pt x="22" y="762"/>
                    <a:pt x="22" y="762"/>
                  </a:cubicBezTo>
                  <a:cubicBezTo>
                    <a:pt x="22" y="839"/>
                    <a:pt x="22" y="839"/>
                    <a:pt x="22" y="839"/>
                  </a:cubicBezTo>
                  <a:cubicBezTo>
                    <a:pt x="863" y="839"/>
                    <a:pt x="863" y="839"/>
                    <a:pt x="863" y="839"/>
                  </a:cubicBezTo>
                  <a:cubicBezTo>
                    <a:pt x="863" y="762"/>
                    <a:pt x="863" y="762"/>
                    <a:pt x="863" y="762"/>
                  </a:cubicBezTo>
                  <a:close/>
                  <a:moveTo>
                    <a:pt x="317" y="741"/>
                  </a:moveTo>
                  <a:cubicBezTo>
                    <a:pt x="317" y="445"/>
                    <a:pt x="317" y="445"/>
                    <a:pt x="317" y="445"/>
                  </a:cubicBezTo>
                  <a:cubicBezTo>
                    <a:pt x="317" y="445"/>
                    <a:pt x="317" y="445"/>
                    <a:pt x="317" y="445"/>
                  </a:cubicBezTo>
                  <a:cubicBezTo>
                    <a:pt x="317" y="441"/>
                    <a:pt x="315" y="437"/>
                    <a:pt x="312" y="434"/>
                  </a:cubicBezTo>
                  <a:cubicBezTo>
                    <a:pt x="312" y="434"/>
                    <a:pt x="312" y="434"/>
                    <a:pt x="312" y="434"/>
                  </a:cubicBezTo>
                  <a:cubicBezTo>
                    <a:pt x="309" y="431"/>
                    <a:pt x="305" y="429"/>
                    <a:pt x="301" y="429"/>
                  </a:cubicBezTo>
                  <a:cubicBezTo>
                    <a:pt x="125" y="429"/>
                    <a:pt x="125" y="429"/>
                    <a:pt x="125" y="429"/>
                  </a:cubicBezTo>
                  <a:cubicBezTo>
                    <a:pt x="121" y="429"/>
                    <a:pt x="117" y="431"/>
                    <a:pt x="114" y="434"/>
                  </a:cubicBezTo>
                  <a:cubicBezTo>
                    <a:pt x="114" y="434"/>
                    <a:pt x="114" y="434"/>
                    <a:pt x="114" y="434"/>
                  </a:cubicBezTo>
                  <a:cubicBezTo>
                    <a:pt x="111" y="437"/>
                    <a:pt x="109" y="441"/>
                    <a:pt x="109" y="445"/>
                  </a:cubicBezTo>
                  <a:cubicBezTo>
                    <a:pt x="109" y="741"/>
                    <a:pt x="109" y="741"/>
                    <a:pt x="109" y="741"/>
                  </a:cubicBezTo>
                  <a:lnTo>
                    <a:pt x="317" y="741"/>
                  </a:lnTo>
                  <a:close/>
                </a:path>
              </a:pathLst>
            </a:custGeom>
            <a:solidFill>
              <a:srgbClr val="403E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9434195" y="4899660"/>
            <a:ext cx="1759585" cy="4514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255" dirty="0">
                <a:solidFill>
                  <a:schemeClr val="lt1"/>
                </a:solidFill>
              </a:rPr>
              <a:t>数据可视化</a:t>
            </a:r>
            <a:endParaRPr lang="zh-CN" altLang="en-US" sz="2255" dirty="0">
              <a:solidFill>
                <a:schemeClr val="lt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904875" y="533400"/>
            <a:ext cx="2766060" cy="4813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功能模块图</a:t>
            </a:r>
            <a:endParaRPr lang="zh-CN" altLang="en-US" sz="32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796413" y="457203"/>
            <a:ext cx="0" cy="632244"/>
          </a:xfrm>
          <a:prstGeom prst="line">
            <a:avLst/>
          </a:prstGeom>
          <a:ln w="76200">
            <a:solidFill>
              <a:srgbClr val="1C48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9005" y="1182370"/>
            <a:ext cx="7226300" cy="50482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45805" y="294968"/>
            <a:ext cx="1961536" cy="1696064"/>
          </a:xfrm>
          <a:prstGeom prst="rect">
            <a:avLst/>
          </a:prstGeom>
          <a:solidFill>
            <a:srgbClr val="1C48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9984658" y="4866967"/>
            <a:ext cx="1961536" cy="1696064"/>
          </a:xfrm>
          <a:prstGeom prst="rect">
            <a:avLst/>
          </a:prstGeom>
          <a:solidFill>
            <a:srgbClr val="1C48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403122" y="449825"/>
            <a:ext cx="11385755" cy="5958349"/>
          </a:xfrm>
          <a:prstGeom prst="roundRect">
            <a:avLst>
              <a:gd name="adj" fmla="val 1568"/>
            </a:avLst>
          </a:prstGeom>
          <a:solidFill>
            <a:schemeClr val="bg1"/>
          </a:solidFill>
          <a:ln>
            <a:noFill/>
          </a:ln>
          <a:effectLst>
            <a:glow rad="228600">
              <a:srgbClr val="02615A">
                <a:alpha val="3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1887301" y="2420811"/>
            <a:ext cx="1592179" cy="1592179"/>
          </a:xfrm>
          <a:prstGeom prst="ellipse">
            <a:avLst/>
          </a:prstGeom>
          <a:solidFill>
            <a:srgbClr val="1C48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800" b="1" dirty="0">
                <a:solidFill>
                  <a:schemeClr val="bg1"/>
                </a:solidFill>
                <a:latin typeface="FuturaBookC" charset="-52"/>
              </a:rPr>
              <a:t>3</a:t>
            </a:r>
            <a:endParaRPr lang="zh-CN" altLang="en-US" sz="13800" b="1" dirty="0">
              <a:solidFill>
                <a:schemeClr val="bg1"/>
              </a:solidFill>
              <a:latin typeface="FuturaBookC" charset="-5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476750" y="2677795"/>
            <a:ext cx="4982845" cy="8197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dist"/>
            <a:r>
              <a:rPr lang="zh-CN" altLang="en-US" sz="4400" dirty="0">
                <a:solidFill>
                  <a:srgbClr val="1C4885"/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系统功能</a:t>
            </a:r>
            <a:r>
              <a:rPr lang="zh-CN" altLang="en-US" sz="4400" dirty="0">
                <a:solidFill>
                  <a:srgbClr val="1C4885"/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实现</a:t>
            </a:r>
            <a:endParaRPr lang="zh-CN" altLang="en-US" sz="4400" dirty="0">
              <a:solidFill>
                <a:srgbClr val="1C4885"/>
              </a:solidFill>
              <a:latin typeface="FZZhengHeiS-DB-GB" panose="02000000000000000000" pitchFamily="2" charset="0"/>
              <a:ea typeface="FZZhengHeiS-DB-GB" panose="02000000000000000000" pitchFamily="2" charset="0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601959" y="4013199"/>
            <a:ext cx="1112406" cy="0"/>
          </a:xfrm>
          <a:prstGeom prst="line">
            <a:avLst/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904875" y="502285"/>
            <a:ext cx="3434715" cy="5441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登录与注册</a:t>
            </a:r>
            <a:endParaRPr lang="zh-CN" altLang="en-US" sz="32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796413" y="457203"/>
            <a:ext cx="0" cy="632244"/>
          </a:xfrm>
          <a:prstGeom prst="line">
            <a:avLst/>
          </a:prstGeom>
          <a:ln w="76200">
            <a:solidFill>
              <a:srgbClr val="1C48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/>
          <p:cNvSpPr txBox="1"/>
          <p:nvPr/>
        </p:nvSpPr>
        <p:spPr>
          <a:xfrm>
            <a:off x="904875" y="1242060"/>
            <a:ext cx="10462895" cy="5657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/>
              <a:t>      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有用户密码直接登录，没有用户密码注册后登录。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003425"/>
            <a:ext cx="5561330" cy="440372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1580" y="2003425"/>
            <a:ext cx="5610860" cy="43910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898525" y="501650"/>
            <a:ext cx="3989705" cy="5441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首页与薪资</a:t>
            </a:r>
            <a:r>
              <a:rPr lang="en-US" altLang="zh-CN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Top10</a:t>
            </a:r>
            <a:endParaRPr lang="en-US" altLang="zh-CN" sz="32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796413" y="457203"/>
            <a:ext cx="0" cy="632244"/>
          </a:xfrm>
          <a:prstGeom prst="line">
            <a:avLst/>
          </a:prstGeom>
          <a:ln w="76200">
            <a:solidFill>
              <a:srgbClr val="1C48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1325" y="1141095"/>
            <a:ext cx="7829550" cy="261366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2880" y="3953510"/>
            <a:ext cx="8268970" cy="28168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72790" y="1503680"/>
            <a:ext cx="6394450" cy="373380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904875" y="533400"/>
            <a:ext cx="3085465" cy="4819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</a:t>
            </a:r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可视化实现</a:t>
            </a:r>
            <a:endParaRPr lang="zh-CN" altLang="en-US" sz="32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796413" y="457203"/>
            <a:ext cx="0" cy="632244"/>
          </a:xfrm>
          <a:prstGeom prst="line">
            <a:avLst/>
          </a:prstGeom>
          <a:ln w="76200">
            <a:solidFill>
              <a:srgbClr val="1C48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796290" y="1412240"/>
            <a:ext cx="3887470" cy="3848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000"/>
              <a:t>（</a:t>
            </a:r>
            <a:r>
              <a:rPr lang="en-US" altLang="zh-CN" sz="2000"/>
              <a:t>1</a:t>
            </a:r>
            <a:r>
              <a:rPr lang="zh-CN" altLang="en-US" sz="2000"/>
              <a:t>）薪资情况</a:t>
            </a:r>
            <a:endParaRPr lang="zh-CN" altLang="en-US" sz="2000"/>
          </a:p>
        </p:txBody>
      </p:sp>
      <p:sp>
        <p:nvSpPr>
          <p:cNvPr id="7" name="文本框 6"/>
          <p:cNvSpPr txBox="1"/>
          <p:nvPr/>
        </p:nvSpPr>
        <p:spPr>
          <a:xfrm>
            <a:off x="1108075" y="5579745"/>
            <a:ext cx="7063105" cy="5086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000"/>
              <a:t>可以看出薪资分布最多的在</a:t>
            </a:r>
            <a:r>
              <a:rPr lang="en-US" altLang="zh-CN" sz="2000"/>
              <a:t>20-30k</a:t>
            </a:r>
            <a:endParaRPr lang="zh-CN" altLang="en-US" sz="20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904875" y="533400"/>
            <a:ext cx="3085465" cy="4819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</a:t>
            </a:r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可视化实现</a:t>
            </a:r>
            <a:endParaRPr lang="zh-CN" altLang="en-US" sz="32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796413" y="457203"/>
            <a:ext cx="0" cy="632244"/>
          </a:xfrm>
          <a:prstGeom prst="line">
            <a:avLst/>
          </a:prstGeom>
          <a:ln w="76200">
            <a:solidFill>
              <a:srgbClr val="1C48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796290" y="1412240"/>
            <a:ext cx="4299585" cy="3613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000"/>
              <a:t>（</a:t>
            </a:r>
            <a:r>
              <a:rPr lang="en-US" altLang="zh-CN" sz="2000"/>
              <a:t>2</a:t>
            </a:r>
            <a:r>
              <a:rPr lang="zh-CN" altLang="en-US" sz="2000"/>
              <a:t>）学历情况</a:t>
            </a:r>
            <a:endParaRPr lang="zh-CN" altLang="en-US" sz="2000"/>
          </a:p>
        </p:txBody>
      </p:sp>
      <p:sp>
        <p:nvSpPr>
          <p:cNvPr id="5" name="文本框 4"/>
          <p:cNvSpPr txBox="1"/>
          <p:nvPr/>
        </p:nvSpPr>
        <p:spPr>
          <a:xfrm>
            <a:off x="1108075" y="5836285"/>
            <a:ext cx="9708515" cy="7645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000"/>
              <a:t>       </a:t>
            </a:r>
            <a:r>
              <a:rPr lang="zh-CN" altLang="en-US" sz="2000"/>
              <a:t>可以看出，学历要求在本科的企业较多</a:t>
            </a:r>
            <a:endParaRPr lang="zh-CN" altLang="en-US" sz="200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60725" y="1411605"/>
            <a:ext cx="5670550" cy="3632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855" y="2038350"/>
            <a:ext cx="10513060" cy="277495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904875" y="533400"/>
            <a:ext cx="3085465" cy="4819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</a:t>
            </a:r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可视化实现</a:t>
            </a:r>
            <a:endParaRPr lang="zh-CN" altLang="en-US" sz="32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796413" y="457203"/>
            <a:ext cx="0" cy="632244"/>
          </a:xfrm>
          <a:prstGeom prst="line">
            <a:avLst/>
          </a:prstGeom>
          <a:ln w="76200">
            <a:solidFill>
              <a:srgbClr val="1C48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796290" y="1412240"/>
            <a:ext cx="4299585" cy="3613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000"/>
              <a:t>（</a:t>
            </a:r>
            <a:r>
              <a:rPr lang="en-US" altLang="zh-CN" sz="2000"/>
              <a:t>3</a:t>
            </a:r>
            <a:r>
              <a:rPr lang="zh-CN" altLang="en-US" sz="2000"/>
              <a:t>）岗位数量情况</a:t>
            </a:r>
            <a:endParaRPr lang="zh-CN" altLang="en-US" sz="2000"/>
          </a:p>
        </p:txBody>
      </p:sp>
      <p:sp>
        <p:nvSpPr>
          <p:cNvPr id="5" name="文本框 4"/>
          <p:cNvSpPr txBox="1"/>
          <p:nvPr/>
        </p:nvSpPr>
        <p:spPr>
          <a:xfrm>
            <a:off x="1108075" y="5836285"/>
            <a:ext cx="9708515" cy="7645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000"/>
              <a:t>       </a:t>
            </a:r>
            <a:r>
              <a:rPr lang="zh-CN" altLang="en-US" sz="2000"/>
              <a:t>可以看出，各个岗位的数量情况</a:t>
            </a:r>
            <a:endParaRPr lang="zh-CN" altLang="en-US" sz="20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6025" y="1664970"/>
            <a:ext cx="9194800" cy="363220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904875" y="533400"/>
            <a:ext cx="4394835" cy="4819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数据爬虫获取</a:t>
            </a:r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</a:t>
            </a:r>
            <a:endParaRPr lang="zh-CN" altLang="en-US" sz="32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796413" y="457203"/>
            <a:ext cx="0" cy="632244"/>
          </a:xfrm>
          <a:prstGeom prst="line">
            <a:avLst/>
          </a:prstGeom>
          <a:ln w="76200">
            <a:solidFill>
              <a:srgbClr val="1C48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1107440" y="5836285"/>
            <a:ext cx="9708515" cy="7645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000"/>
              <a:t>       </a:t>
            </a:r>
            <a:r>
              <a:rPr lang="zh-CN" altLang="en-US" sz="2000"/>
              <a:t>在页面上可以实时爬虫岗位数据</a:t>
            </a:r>
            <a:endParaRPr lang="zh-CN" altLang="en-US" sz="20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24500" y="1411605"/>
            <a:ext cx="6534150" cy="272669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904875" y="533400"/>
            <a:ext cx="4394835" cy="4819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岗位推荐实现</a:t>
            </a:r>
            <a:endParaRPr lang="zh-CN" altLang="en-US" sz="32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796413" y="457203"/>
            <a:ext cx="0" cy="632244"/>
          </a:xfrm>
          <a:prstGeom prst="line">
            <a:avLst/>
          </a:prstGeom>
          <a:ln w="76200">
            <a:solidFill>
              <a:srgbClr val="1C48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997585" y="5372100"/>
            <a:ext cx="9708515" cy="7645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000"/>
              <a:t>       </a:t>
            </a:r>
            <a:r>
              <a:rPr lang="zh-CN" altLang="en-US" sz="2000"/>
              <a:t>先选择意向再实现推荐更加个性化</a:t>
            </a:r>
            <a:endParaRPr lang="zh-CN" altLang="en-US" sz="200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29080"/>
            <a:ext cx="4991100" cy="26098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45805" y="294968"/>
            <a:ext cx="1961536" cy="1696064"/>
          </a:xfrm>
          <a:prstGeom prst="rect">
            <a:avLst/>
          </a:prstGeom>
          <a:solidFill>
            <a:srgbClr val="1C48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9984658" y="4866967"/>
            <a:ext cx="1961536" cy="1696064"/>
          </a:xfrm>
          <a:prstGeom prst="rect">
            <a:avLst/>
          </a:prstGeom>
          <a:solidFill>
            <a:srgbClr val="1C48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403122" y="450460"/>
            <a:ext cx="11385755" cy="5958349"/>
          </a:xfrm>
          <a:prstGeom prst="roundRect">
            <a:avLst>
              <a:gd name="adj" fmla="val 1568"/>
            </a:avLst>
          </a:prstGeom>
          <a:solidFill>
            <a:schemeClr val="bg1"/>
          </a:solidFill>
          <a:ln>
            <a:noFill/>
          </a:ln>
          <a:effectLst>
            <a:glow rad="228600">
              <a:srgbClr val="02615A">
                <a:alpha val="3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1887301" y="2420811"/>
            <a:ext cx="1592179" cy="1592179"/>
          </a:xfrm>
          <a:prstGeom prst="ellipse">
            <a:avLst/>
          </a:prstGeom>
          <a:solidFill>
            <a:srgbClr val="1C48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800" b="1" dirty="0">
                <a:solidFill>
                  <a:schemeClr val="bg1"/>
                </a:solidFill>
                <a:latin typeface="FuturaBookC" charset="-52"/>
              </a:rPr>
              <a:t>4</a:t>
            </a:r>
            <a:endParaRPr lang="zh-CN" altLang="en-US" sz="13800" b="1" dirty="0">
              <a:solidFill>
                <a:schemeClr val="bg1"/>
              </a:solidFill>
              <a:latin typeface="FuturaBookC" charset="-5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476750" y="2687320"/>
            <a:ext cx="3660140" cy="7423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dist"/>
            <a:r>
              <a:rPr lang="zh-CN" altLang="en-US" sz="4400" dirty="0">
                <a:solidFill>
                  <a:srgbClr val="1C4885"/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总结</a:t>
            </a:r>
            <a:endParaRPr lang="zh-CN" altLang="en-US" sz="4400" dirty="0">
              <a:solidFill>
                <a:srgbClr val="1C4885"/>
              </a:solidFill>
              <a:latin typeface="FZZhengHeiS-DB-GB" panose="02000000000000000000" pitchFamily="2" charset="0"/>
              <a:ea typeface="FZZhengHeiS-DB-GB" panose="02000000000000000000" pitchFamily="2" charset="0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663554" y="4013199"/>
            <a:ext cx="1112406" cy="0"/>
          </a:xfrm>
          <a:prstGeom prst="line">
            <a:avLst/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894715" y="522605"/>
            <a:ext cx="2538730" cy="5029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</a:t>
            </a:r>
            <a:endParaRPr lang="zh-CN" altLang="en-US" sz="28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796413" y="457203"/>
            <a:ext cx="0" cy="632244"/>
          </a:xfrm>
          <a:prstGeom prst="line">
            <a:avLst/>
          </a:prstGeom>
          <a:ln w="76200">
            <a:solidFill>
              <a:srgbClr val="1C48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1285875" y="1762125"/>
            <a:ext cx="9163685" cy="38931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l">
              <a:buClrTx/>
              <a:buSzTx/>
              <a:buFontTx/>
            </a:pPr>
            <a:r>
              <a:rPr lang="en-US" altLang="zh-CN" sz="2400" dirty="0">
                <a:solidFill>
                  <a:srgbClr val="1C4885"/>
                </a:solidFill>
                <a:effectLst/>
                <a:sym typeface="+mn-ea"/>
              </a:rPr>
              <a:t>       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本文设计并实现了一个基于Python的猎聘直聘数据分析与可视化系统，完成了对系统的分析、设计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和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实现工作。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本系统通过网络爬虫技术，系统能够自动从招聘网站上抓取招聘信息，并将其存储到数据库中。然后，系统采用了ECharts可视化框架，将招聘数据以图表形式直观地展示给用户，帮助用户更好地理解和分析招聘市场的状况和趋势。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1" name="圆角矩形 10"/>
          <p:cNvSpPr/>
          <p:nvPr>
            <p:custDataLst>
              <p:tags r:id="rId1"/>
            </p:custDataLst>
          </p:nvPr>
        </p:nvSpPr>
        <p:spPr>
          <a:xfrm>
            <a:off x="702945" y="5330190"/>
            <a:ext cx="2567305" cy="1418590"/>
          </a:xfrm>
          <a:prstGeom prst="roundRect">
            <a:avLst>
              <a:gd name="adj" fmla="val 9951"/>
            </a:avLst>
          </a:prstGeom>
          <a:solidFill>
            <a:srgbClr val="1C4885"/>
          </a:solidFill>
          <a:ln>
            <a:noFill/>
          </a:ln>
          <a:scene3d>
            <a:camera prst="isometricTopUp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圆角矩形 9"/>
          <p:cNvSpPr/>
          <p:nvPr>
            <p:custDataLst>
              <p:tags r:id="rId2"/>
            </p:custDataLst>
          </p:nvPr>
        </p:nvSpPr>
        <p:spPr>
          <a:xfrm>
            <a:off x="3433445" y="5471795"/>
            <a:ext cx="2466975" cy="1386205"/>
          </a:xfrm>
          <a:prstGeom prst="roundRect">
            <a:avLst>
              <a:gd name="adj" fmla="val 9951"/>
            </a:avLst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isometricTopUp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圆角矩形 1"/>
          <p:cNvSpPr/>
          <p:nvPr>
            <p:custDataLst>
              <p:tags r:id="rId3"/>
            </p:custDataLst>
          </p:nvPr>
        </p:nvSpPr>
        <p:spPr>
          <a:xfrm>
            <a:off x="6228715" y="5330190"/>
            <a:ext cx="2513330" cy="1463675"/>
          </a:xfrm>
          <a:prstGeom prst="roundRect">
            <a:avLst>
              <a:gd name="adj" fmla="val 9951"/>
            </a:avLst>
          </a:prstGeom>
          <a:solidFill>
            <a:srgbClr val="1C4885"/>
          </a:solidFill>
          <a:ln>
            <a:noFill/>
          </a:ln>
          <a:scene3d>
            <a:camera prst="isometricTopUp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圆角矩形 6"/>
          <p:cNvSpPr/>
          <p:nvPr>
            <p:custDataLst>
              <p:tags r:id="rId4"/>
            </p:custDataLst>
          </p:nvPr>
        </p:nvSpPr>
        <p:spPr>
          <a:xfrm>
            <a:off x="9069705" y="5395595"/>
            <a:ext cx="2305685" cy="1462405"/>
          </a:xfrm>
          <a:prstGeom prst="roundRect">
            <a:avLst>
              <a:gd name="adj" fmla="val 9951"/>
            </a:avLst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isometricTopUp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9984658" y="4866967"/>
            <a:ext cx="1961536" cy="1696064"/>
          </a:xfrm>
          <a:prstGeom prst="rect">
            <a:avLst/>
          </a:prstGeom>
          <a:solidFill>
            <a:srgbClr val="1C48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245805" y="294968"/>
            <a:ext cx="1961536" cy="1696064"/>
          </a:xfrm>
          <a:prstGeom prst="rect">
            <a:avLst/>
          </a:prstGeom>
          <a:solidFill>
            <a:srgbClr val="1C48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245805" y="4866967"/>
            <a:ext cx="1961536" cy="1696064"/>
          </a:xfrm>
          <a:prstGeom prst="rect">
            <a:avLst/>
          </a:prstGeom>
          <a:solidFill>
            <a:srgbClr val="1C48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9984658" y="294968"/>
            <a:ext cx="1961536" cy="1696064"/>
          </a:xfrm>
          <a:prstGeom prst="rect">
            <a:avLst/>
          </a:prstGeom>
          <a:solidFill>
            <a:srgbClr val="1C48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圆角矩形 7"/>
          <p:cNvSpPr/>
          <p:nvPr/>
        </p:nvSpPr>
        <p:spPr>
          <a:xfrm>
            <a:off x="403122" y="405580"/>
            <a:ext cx="11385755" cy="5958349"/>
          </a:xfrm>
          <a:prstGeom prst="roundRect">
            <a:avLst>
              <a:gd name="adj" fmla="val 1568"/>
            </a:avLst>
          </a:prstGeom>
          <a:solidFill>
            <a:schemeClr val="bg1"/>
          </a:solidFill>
          <a:ln>
            <a:noFill/>
          </a:ln>
          <a:effectLst>
            <a:glow rad="228600">
              <a:schemeClr val="tx1">
                <a:alpha val="3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4100195" y="2451100"/>
            <a:ext cx="4119880" cy="14884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dist"/>
            <a:r>
              <a:rPr lang="zh-CN" altLang="en-US" sz="4000" dirty="0">
                <a:solidFill>
                  <a:srgbClr val="1C4885"/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感谢各位老师</a:t>
            </a:r>
            <a:endParaRPr lang="zh-CN" altLang="en-US" sz="4000" dirty="0">
              <a:solidFill>
                <a:srgbClr val="1C4885"/>
              </a:solidFill>
              <a:latin typeface="FZZhengHeiS-DB-GB" panose="02000000000000000000" pitchFamily="2" charset="0"/>
              <a:ea typeface="FZZhengHeiS-DB-GB" panose="02000000000000000000" pitchFamily="2" charset="0"/>
            </a:endParaRPr>
          </a:p>
          <a:p>
            <a:pPr algn="dist"/>
            <a:r>
              <a:rPr lang="zh-CN" altLang="en-US" sz="4000" dirty="0">
                <a:solidFill>
                  <a:srgbClr val="1C4885"/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恳请批评</a:t>
            </a:r>
            <a:r>
              <a:rPr lang="zh-CN" altLang="en-US" sz="4000" dirty="0">
                <a:solidFill>
                  <a:srgbClr val="1C4885"/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指正</a:t>
            </a:r>
            <a:endParaRPr lang="zh-CN" altLang="en-US" sz="4000" dirty="0">
              <a:solidFill>
                <a:srgbClr val="1C4885"/>
              </a:solidFill>
              <a:latin typeface="FZZhengHeiS-DB-GB" panose="02000000000000000000" pitchFamily="2" charset="0"/>
              <a:ea typeface="FZZhengHeiS-DB-GB" panose="02000000000000000000" pitchFamily="2" charset="0"/>
            </a:endParaRPr>
          </a:p>
        </p:txBody>
      </p:sp>
      <p:cxnSp>
        <p:nvCxnSpPr>
          <p:cNvPr id="11" name="直接连接符 10"/>
          <p:cNvCxnSpPr/>
          <p:nvPr/>
        </p:nvCxnSpPr>
        <p:spPr>
          <a:xfrm>
            <a:off x="5402867" y="4002242"/>
            <a:ext cx="1388806" cy="0"/>
          </a:xfrm>
          <a:prstGeom prst="line">
            <a:avLst/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/>
          <p:cNvSpPr/>
          <p:nvPr/>
        </p:nvSpPr>
        <p:spPr>
          <a:xfrm>
            <a:off x="4960620" y="405765"/>
            <a:ext cx="2076450" cy="28956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字魂35号-经典雅黑" panose="00000500000000000000" pitchFamily="2" charset="-122"/>
              <a:ea typeface="字魂35号-经典雅黑" panose="00000500000000000000" pitchFamily="2" charset="-122"/>
              <a:sym typeface="字魂35号-经典雅黑" panose="00000500000000000000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913630" y="763270"/>
            <a:ext cx="2307590" cy="4279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800" b="1" spc="600" dirty="0">
                <a:solidFill>
                  <a:srgbClr val="2B6587"/>
                </a:solidFill>
                <a:latin typeface="字魂95号-手刻宋" panose="00000500000000000000" pitchFamily="2" charset="-122"/>
                <a:ea typeface="字魂95号-手刻宋" panose="00000500000000000000" pitchFamily="2" charset="-122"/>
              </a:rPr>
              <a:t>THE  END</a:t>
            </a:r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bldLvl="0" animBg="1"/>
    </p:bldLst>
  </p:timing>
</p:sld>
</file>

<file path=ppt/tags/tag1.xml><?xml version="1.0" encoding="utf-8"?>
<p:tagLst xmlns:p="http://schemas.openxmlformats.org/presentationml/2006/main">
  <p:tag name="KSO_WM_DIAGRAM_VIRTUALLY_FRAME" val="{&quot;height&quot;:156.20433070866142,&quot;left&quot;:150.25850393700787,&quot;top&quot;:244.501968503937,&quot;width&quot;:712.8914960629921}"/>
</p:tagLst>
</file>

<file path=ppt/tags/tag2.xml><?xml version="1.0" encoding="utf-8"?>
<p:tagLst xmlns:p="http://schemas.openxmlformats.org/presentationml/2006/main">
  <p:tag name="KSO_WM_DIAGRAM_VIRTUALLY_FRAME" val="{&quot;height&quot;:156.20433070866142,&quot;left&quot;:150.25850393700787,&quot;top&quot;:244.501968503937,&quot;width&quot;:712.8914960629921}"/>
</p:tagLst>
</file>

<file path=ppt/tags/tag3.xml><?xml version="1.0" encoding="utf-8"?>
<p:tagLst xmlns:p="http://schemas.openxmlformats.org/presentationml/2006/main">
  <p:tag name="KSO_WM_DIAGRAM_VIRTUALLY_FRAME" val="{&quot;height&quot;:156.20433070866142,&quot;left&quot;:150.25850393700787,&quot;top&quot;:244.501968503937,&quot;width&quot;:712.8914960629921}"/>
</p:tagLst>
</file>

<file path=ppt/tags/tag4.xml><?xml version="1.0" encoding="utf-8"?>
<p:tagLst xmlns:p="http://schemas.openxmlformats.org/presentationml/2006/main">
  <p:tag name="KSO_WM_DIAGRAM_VIRTUALLY_FRAME" val="{&quot;height&quot;:156.20433070866142,&quot;left&quot;:150.25850393700787,&quot;top&quot;:244.501968503937,&quot;width&quot;:712.8914960629921}"/>
</p:tagLst>
</file>

<file path=ppt/tags/tag5.xml><?xml version="1.0" encoding="utf-8"?>
<p:tagLst xmlns:p="http://schemas.openxmlformats.org/presentationml/2006/main">
  <p:tag name="KSO_WM_DIAGRAM_VIRTUALLY_FRAME" val="{&quot;height&quot;:156.20433070866142,&quot;left&quot;:150.25850393700787,&quot;top&quot;:244.501968503937,&quot;width&quot;:712.8914960629921}"/>
</p:tagLst>
</file>

<file path=ppt/tags/tag6.xml><?xml version="1.0" encoding="utf-8"?>
<p:tagLst xmlns:p="http://schemas.openxmlformats.org/presentationml/2006/main">
  <p:tag name="KSO_WM_DIAGRAM_VIRTUALLY_FRAME" val="{&quot;height&quot;:156.20433070866142,&quot;left&quot;:150.25850393700787,&quot;top&quot;:244.501968503937,&quot;width&quot;:712.8914960629921}"/>
</p:tagLst>
</file>

<file path=ppt/tags/tag7.xml><?xml version="1.0" encoding="utf-8"?>
<p:tagLst xmlns:p="http://schemas.openxmlformats.org/presentationml/2006/main">
  <p:tag name="KSO_WM_DIAGRAM_VIRTUALLY_FRAME" val="{&quot;height&quot;:156.20433070866142,&quot;left&quot;:150.25850393700787,&quot;top&quot;:244.501968503937,&quot;width&quot;:712.8914960629921}"/>
</p:tagLst>
</file>

<file path=ppt/tags/tag8.xml><?xml version="1.0" encoding="utf-8"?>
<p:tagLst xmlns:p="http://schemas.openxmlformats.org/presentationml/2006/main">
  <p:tag name="KSO_WM_DIAGRAM_VIRTUALLY_FRAME" val="{&quot;height&quot;:156.20433070866142,&quot;left&quot;:150.25850393700787,&quot;top&quot;:244.501968503937,&quot;width&quot;:712.8914960629921}"/>
</p:tagLst>
</file>

<file path=ppt/tags/tag9.xml><?xml version="1.0" encoding="utf-8"?>
<p:tagLst xmlns:p="http://schemas.openxmlformats.org/presentationml/2006/main">
  <p:tag name="KSO_WM_DIAGRAM_VIRTUALLY_FRAME" val="{&quot;height&quot;:321.25047244094486,&quot;left&quot;:486.4317322834646,&quot;top&quot;:131.19165354330707,&quot;width&quot;:390.76818897637787}"/>
</p:tagLst>
</file>

<file path=ppt/tags/tag10.xml><?xml version="1.0" encoding="utf-8"?>
<p:tagLst xmlns:p="http://schemas.openxmlformats.org/presentationml/2006/main">
  <p:tag name="KSO_WM_DIAGRAM_VIRTUALLY_FRAME" val="{&quot;height&quot;:321.25047244094486,&quot;left&quot;:486.4317322834646,&quot;top&quot;:131.19165354330707,&quot;width&quot;:390.76818897637787}"/>
</p:tagLst>
</file>

<file path=ppt/tags/tag11.xml><?xml version="1.0" encoding="utf-8"?>
<p:tagLst xmlns:p="http://schemas.openxmlformats.org/presentationml/2006/main">
  <p:tag name="KSO_WM_DIAGRAM_VIRTUALLY_FRAME" val="{&quot;height&quot;:321.25047244094486,&quot;left&quot;:486.4317322834646,&quot;top&quot;:131.19165354330707,&quot;width&quot;:390.76818897637787}"/>
</p:tagLst>
</file>

<file path=ppt/tags/tag12.xml><?xml version="1.0" encoding="utf-8"?>
<p:tagLst xmlns:p="http://schemas.openxmlformats.org/presentationml/2006/main">
  <p:tag name="KSO_WM_DIAGRAM_VIRTUALLY_FRAME" val="{&quot;height&quot;:321.25047244094486,&quot;left&quot;:486.4317322834646,&quot;top&quot;:131.19165354330707,&quot;width&quot;:390.76818897637787}"/>
</p:tagLst>
</file>

<file path=ppt/tags/tag13.xml><?xml version="1.0" encoding="utf-8"?>
<p:tagLst xmlns:p="http://schemas.openxmlformats.org/presentationml/2006/main">
  <p:tag name="KSO_WM_DIAGRAM_VIRTUALLY_FRAME" val="{&quot;height&quot;:321.25047244094486,&quot;left&quot;:486.4317322834646,&quot;top&quot;:131.19165354330707,&quot;width&quot;:390.76818897637787}"/>
</p:tagLst>
</file>

<file path=ppt/tags/tag14.xml><?xml version="1.0" encoding="utf-8"?>
<p:tagLst xmlns:p="http://schemas.openxmlformats.org/presentationml/2006/main">
  <p:tag name="KSO_WM_DIAGRAM_VIRTUALLY_FRAME" val="{&quot;height&quot;:321.25047244094486,&quot;left&quot;:486.4317322834646,&quot;top&quot;:131.19165354330707,&quot;width&quot;:390.76818897637787}"/>
</p:tagLst>
</file>

<file path=ppt/tags/tag15.xml><?xml version="1.0" encoding="utf-8"?>
<p:tagLst xmlns:p="http://schemas.openxmlformats.org/presentationml/2006/main">
  <p:tag name="KSO_WM_DIAGRAM_VIRTUALLY_FRAME" val="{&quot;height&quot;:321.25047244094486,&quot;left&quot;:486.4317322834646,&quot;top&quot;:131.19165354330707,&quot;width&quot;:390.76818897637787}"/>
</p:tagLst>
</file>

<file path=ppt/tags/tag16.xml><?xml version="1.0" encoding="utf-8"?>
<p:tagLst xmlns:p="http://schemas.openxmlformats.org/presentationml/2006/main">
  <p:tag name="KSO_WM_DIAGRAM_VIRTUALLY_FRAME" val="{&quot;height&quot;:321.25047244094486,&quot;left&quot;:486.4317322834646,&quot;top&quot;:131.19165354330707,&quot;width&quot;:390.76818897637787}"/>
</p:tagLst>
</file>

<file path=ppt/tags/tag17.xml><?xml version="1.0" encoding="utf-8"?>
<p:tagLst xmlns:p="http://schemas.openxmlformats.org/presentationml/2006/main">
  <p:tag name="KSO_WM_DIAGRAM_VIRTUALLY_FRAME" val="{&quot;height&quot;:276.3777952755906,&quot;left&quot;:60.82228346456693,&quot;top&quot;:155.81094488188975,&quot;width&quot;:829.7238582677167}"/>
</p:tagLst>
</file>

<file path=ppt/tags/tag18.xml><?xml version="1.0" encoding="utf-8"?>
<p:tagLst xmlns:p="http://schemas.openxmlformats.org/presentationml/2006/main">
  <p:tag name="KSO_WM_DIAGRAM_VIRTUALLY_FRAME" val="{&quot;height&quot;:276.3777952755906,&quot;left&quot;:60.82228346456693,&quot;top&quot;:155.81094488188975,&quot;width&quot;:829.7238582677167}"/>
</p:tagLst>
</file>

<file path=ppt/tags/tag19.xml><?xml version="1.0" encoding="utf-8"?>
<p:tagLst xmlns:p="http://schemas.openxmlformats.org/presentationml/2006/main">
  <p:tag name="KSO_WM_DIAGRAM_VIRTUALLY_FRAME" val="{&quot;height&quot;:276.3777952755906,&quot;left&quot;:60.82228346456693,&quot;top&quot;:155.81094488188975,&quot;width&quot;:829.7238582677167}"/>
</p:tagLst>
</file>

<file path=ppt/tags/tag20.xml><?xml version="1.0" encoding="utf-8"?>
<p:tagLst xmlns:p="http://schemas.openxmlformats.org/presentationml/2006/main">
  <p:tag name="KSO_WM_DIAGRAM_VIRTUALLY_FRAME" val="{&quot;height&quot;:276.3777952755906,&quot;left&quot;:60.82228346456693,&quot;top&quot;:155.81094488188975,&quot;width&quot;:829.7238582677167}"/>
</p:tagLst>
</file>

<file path=ppt/tags/tag21.xml><?xml version="1.0" encoding="utf-8"?>
<p:tagLst xmlns:p="http://schemas.openxmlformats.org/presentationml/2006/main">
  <p:tag name="ISPRING_PRESENTATION_TITLE" val="蓝色简洁毕业答辩PPT模板"/>
  <p:tag name="commondata" val="eyJoZGlkIjoiNTkyNzQ1NDg4NDRhNTcxMTM2MzQzZGVjNGQ3ODdmMjM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886</Words>
  <Application>WPS 演示</Application>
  <PresentationFormat>宽屏</PresentationFormat>
  <Paragraphs>111</Paragraphs>
  <Slides>18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34" baseType="lpstr">
      <vt:lpstr>Arial</vt:lpstr>
      <vt:lpstr>宋体</vt:lpstr>
      <vt:lpstr>Wingdings</vt:lpstr>
      <vt:lpstr>微软雅黑</vt:lpstr>
      <vt:lpstr>字魂35号-经典雅黑</vt:lpstr>
      <vt:lpstr>黑体</vt:lpstr>
      <vt:lpstr>FZZhengHeiS-DB-GB</vt:lpstr>
      <vt:lpstr>Verdana</vt:lpstr>
      <vt:lpstr>FuturaBookC</vt:lpstr>
      <vt:lpstr>Segoe Print</vt:lpstr>
      <vt:lpstr>Calibri</vt:lpstr>
      <vt:lpstr>字魂95号-手刻宋</vt:lpstr>
      <vt:lpstr>等线</vt:lpstr>
      <vt:lpstr>Arial Unicode MS</vt:lpstr>
      <vt:lpstr>等线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kan</dc:creator>
  <dc:description>http://www.ypppt.com/</dc:description>
  <cp:lastModifiedBy>WpsUser</cp:lastModifiedBy>
  <cp:revision>170</cp:revision>
  <dcterms:created xsi:type="dcterms:W3CDTF">2018-02-27T12:12:00Z</dcterms:created>
  <dcterms:modified xsi:type="dcterms:W3CDTF">2025-01-03T08:10:19Z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FFD79B09606A4DCD8E9A5B8FA243ABCB_12</vt:lpwstr>
  </property>
  <property fmtid="{D5CDD505-2E9C-101B-9397-08002B2CF9AE}" pid="3" name="KSOProductBuildVer">
    <vt:lpwstr>2052-11.1.0.11045</vt:lpwstr>
  </property>
</Properties>
</file>